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Roboto Condensed Bold" charset="1" panose="02000000000000000000"/>
      <p:regular r:id="rId26"/>
    </p:embeddedFont>
    <p:embeddedFont>
      <p:font typeface="Roboto Bold" charset="1" panose="02000000000000000000"/>
      <p:regular r:id="rId27"/>
    </p:embeddedFont>
    <p:embeddedFont>
      <p:font typeface="Roboto Condensed" charset="1" panose="02000000000000000000"/>
      <p:regular r:id="rId28"/>
    </p:embeddedFont>
    <p:embeddedFont>
      <p:font typeface="Roboto" charset="1" panose="02000000000000000000"/>
      <p:regular r:id="rId29"/>
    </p:embeddedFont>
    <p:embeddedFont>
      <p:font typeface="Canva Sans" charset="1" panose="020B0503030501040103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Masters/notesMaster1.xml" Type="http://schemas.openxmlformats.org/officeDocument/2006/relationships/notesMaster"/><Relationship Id="rId31" Target="theme/theme2.xml" Type="http://schemas.openxmlformats.org/officeDocument/2006/relationships/theme"/><Relationship Id="rId32" Target="notesSlides/notesSlide1.xml" Type="http://schemas.openxmlformats.org/officeDocument/2006/relationships/notesSlide"/><Relationship Id="rId33" Target="fonts/font33.fntdata" Type="http://schemas.openxmlformats.org/officeDocument/2006/relationships/font"/><Relationship Id="rId34" Target="notesSlides/notesSlide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Components include the wearable that will collect the data.</a:t>
            </a:r>
          </a:p>
          <a:p>
            <a:r>
              <a:rPr lang="en-US"/>
              <a:t/>
            </a:r>
          </a:p>
          <a:p>
            <a:r>
              <a:rPr lang="en-US"/>
              <a:t>The mobile application, which is the interface for the patients that enables device pairing, monitoring, and alerts</a:t>
            </a:r>
          </a:p>
          <a:p>
            <a:r>
              <a:rPr lang="en-US"/>
              <a:t/>
            </a:r>
          </a:p>
          <a:p>
            <a:r>
              <a:rPr lang="en-US"/>
              <a:t>And the provider dashboard that allows doctors to review data, approve devices, and manage care</a:t>
            </a:r>
          </a:p>
          <a:p>
            <a:r>
              <a:rPr lang="en-US"/>
              <a:t/>
            </a:r>
          </a:p>
          <a:p>
            <a:r>
              <a:rPr lang="en-US"/>
              <a:t>--------------------------------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Components include the wearable that will collect the data.</a:t>
            </a:r>
          </a:p>
          <a:p>
            <a:r>
              <a:rPr lang="en-US"/>
              <a:t/>
            </a:r>
          </a:p>
          <a:p>
            <a:r>
              <a:rPr lang="en-US"/>
              <a:t>The mobile application, which is the interface for the patients that enables device pairing, monitoring, and alerts</a:t>
            </a:r>
          </a:p>
          <a:p>
            <a:r>
              <a:rPr lang="en-US"/>
              <a:t/>
            </a:r>
          </a:p>
          <a:p>
            <a:r>
              <a:rPr lang="en-US"/>
              <a:t>And the provider dashboard that allows doctors to review data, approve devices, and manage care</a:t>
            </a:r>
          </a:p>
          <a:p>
            <a:r>
              <a:rPr lang="en-US"/>
              <a:t/>
            </a:r>
          </a:p>
          <a:p>
            <a:r>
              <a:rPr lang="en-US"/>
              <a:t>--------------------------------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VAHG1HgsCqo.mp4" Type="http://schemas.openxmlformats.org/officeDocument/2006/relationships/video"/><Relationship Id="rId4" Target="../media/VAHG1HgsCqo.mp4" Type="http://schemas.microsoft.com/office/2007/relationships/media"/><Relationship Id="rId5" Target="../media/image4.png" Type="http://schemas.openxmlformats.org/officeDocument/2006/relationships/image"/><Relationship Id="rId6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document/d/1QaH0Pq0nHQakuwRFT1JEawy7oefqskVo8cUi3mBBdi8/edit?tab=t.0#heading=h.pjssefyb6hk1" TargetMode="External" Type="http://schemas.openxmlformats.org/officeDocument/2006/relationships/hyperlink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4.png" Type="http://schemas.openxmlformats.org/officeDocument/2006/relationships/image"/><Relationship Id="rId4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4.png" Type="http://schemas.openxmlformats.org/officeDocument/2006/relationships/image"/><Relationship Id="rId4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jpeg" Type="http://schemas.openxmlformats.org/officeDocument/2006/relationships/image"/><Relationship Id="rId3" Target="../media/VAHGzIdxBuc.mp4" Type="http://schemas.openxmlformats.org/officeDocument/2006/relationships/video"/><Relationship Id="rId4" Target="../media/VAHGzIdxBuc.mp4" Type="http://schemas.microsoft.com/office/2007/relationships/media"/><Relationship Id="rId5" Target="https://docs.google.com/document/d/1QaH0Pq0nHQakuwRFT1JEawy7oefqskVo8cUi3mBBdi8/edit?tab=t.0#heading=h.pjssefyb6hk1" TargetMode="External" Type="http://schemas.openxmlformats.org/officeDocument/2006/relationships/hyperlink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document/d/1QaH0Pq0nHQakuwRFT1JEawy7oefqskVo8cUi3mBBdi8/edit?tab=t.0#heading=h.pjssefyb6hk1" TargetMode="External" Type="http://schemas.openxmlformats.org/officeDocument/2006/relationships/hyperlink"/><Relationship Id="rId3" Target="../media/image26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pmc.ncbi.nlm.nih.gov/articles/PMC10727511/?utm_source=chatgpt.com" TargetMode="External" Type="http://schemas.openxmlformats.org/officeDocument/2006/relationships/hyperlink"/><Relationship Id="rId3" Target="https://www.sciencedirect.com/science/article/pii/S0301211524006924?utm_source=chatgpt.com" TargetMode="External" Type="http://schemas.openxmlformats.org/officeDocument/2006/relationships/hyperlink"/><Relationship Id="rId4" Target="https://docs.google.com/document/d/1QaH0Pq0nHQakuwRFT1JEawy7oefqskVo8cUi3mBBdi8/edit?tab=t.0#heading=h.pjssefyb6hk1" TargetMode="External" Type="http://schemas.openxmlformats.org/officeDocument/2006/relationships/hyperlink"/><Relationship Id="rId5" Target="https://www.bloom-life.com/?utm_source=chatgpt.com" TargetMode="External" Type="http://schemas.openxmlformats.org/officeDocument/2006/relationships/hyperlink"/><Relationship Id="rId6" Target="https://www.futuremarketinsights.com/reports/wearable-pregnancy-devices-market?utm_source=chatgpt.com" TargetMode="External" Type="http://schemas.openxmlformats.org/officeDocument/2006/relationships/hyperlink"/><Relationship Id="rId7" Target="https://time.com/7094692/nuvo-invu/?utm_source=chatgpt.com" TargetMode="External" Type="http://schemas.openxmlformats.org/officeDocument/2006/relationships/hyperlink"/><Relationship Id="rId8" Target="https://etedge-insights.com/industry/healthcare/how-telemedicine-wearable-health-trackers-and-pregnancy-apps-are-transforming-prenatal-care/?utm_source=chatgpt.com" TargetMode="External" Type="http://schemas.openxmlformats.org/officeDocument/2006/relationships/hyperlink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docs.google.com/document/d/1QaH0Pq0nHQakuwRFT1JEawy7oefqskVo8cUi3mBBdi8/edit?tab=t.0#heading=h.pjssefyb6hk1" TargetMode="External" Type="http://schemas.openxmlformats.org/officeDocument/2006/relationships/hyperlink"/><Relationship Id="rId3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2700000">
            <a:off x="14122509" y="-2118339"/>
            <a:ext cx="6793872" cy="11428485"/>
            <a:chOff x="0" y="0"/>
            <a:chExt cx="1789332" cy="3009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89332" cy="3009972"/>
            </a:xfrm>
            <a:custGeom>
              <a:avLst/>
              <a:gdLst/>
              <a:ahLst/>
              <a:cxnLst/>
              <a:rect r="r" b="b" t="t" l="l"/>
              <a:pathLst>
                <a:path h="3009972" w="1789332">
                  <a:moveTo>
                    <a:pt x="0" y="0"/>
                  </a:moveTo>
                  <a:lnTo>
                    <a:pt x="1789332" y="0"/>
                  </a:lnTo>
                  <a:lnTo>
                    <a:pt x="1789332" y="3009972"/>
                  </a:lnTo>
                  <a:lnTo>
                    <a:pt x="0" y="300997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789332" cy="3057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2405686" y="-69594"/>
            <a:ext cx="15906129" cy="2368038"/>
            <a:chOff x="0" y="0"/>
            <a:chExt cx="1557078" cy="2318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7078" cy="231811"/>
            </a:xfrm>
            <a:custGeom>
              <a:avLst/>
              <a:gdLst/>
              <a:ahLst/>
              <a:cxnLst/>
              <a:rect r="r" b="b" t="t" l="l"/>
              <a:pathLst>
                <a:path h="231811" w="1557078">
                  <a:moveTo>
                    <a:pt x="203200" y="0"/>
                  </a:moveTo>
                  <a:lnTo>
                    <a:pt x="1557078" y="0"/>
                  </a:lnTo>
                  <a:lnTo>
                    <a:pt x="1353878" y="231811"/>
                  </a:lnTo>
                  <a:lnTo>
                    <a:pt x="0" y="23181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47625"/>
              <a:ext cx="1353878" cy="2794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90485" y="9435774"/>
            <a:ext cx="5462425" cy="2629209"/>
            <a:chOff x="0" y="0"/>
            <a:chExt cx="844334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44334" cy="406400"/>
            </a:xfrm>
            <a:custGeom>
              <a:avLst/>
              <a:gdLst/>
              <a:ahLst/>
              <a:cxnLst/>
              <a:rect r="r" b="b" t="t" l="l"/>
              <a:pathLst>
                <a:path h="406400" w="844334">
                  <a:moveTo>
                    <a:pt x="63325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33250" y="406400"/>
                  </a:lnTo>
                  <a:lnTo>
                    <a:pt x="844334" y="203200"/>
                  </a:lnTo>
                  <a:lnTo>
                    <a:pt x="633250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2559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39412" y="8972396"/>
            <a:ext cx="5462425" cy="2629209"/>
            <a:chOff x="0" y="0"/>
            <a:chExt cx="844334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44334" cy="406400"/>
            </a:xfrm>
            <a:custGeom>
              <a:avLst/>
              <a:gdLst/>
              <a:ahLst/>
              <a:cxnLst/>
              <a:rect r="r" b="b" t="t" l="l"/>
              <a:pathLst>
                <a:path h="406400" w="844334">
                  <a:moveTo>
                    <a:pt x="633250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633250" y="406400"/>
                  </a:lnTo>
                  <a:lnTo>
                    <a:pt x="844334" y="203200"/>
                  </a:lnTo>
                  <a:lnTo>
                    <a:pt x="633250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25599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 flipV="true">
            <a:off x="14849924" y="7410376"/>
            <a:ext cx="4019983" cy="2944763"/>
          </a:xfrm>
          <a:prstGeom prst="line">
            <a:avLst/>
          </a:prstGeom>
          <a:ln cap="flat" w="85725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539037" y="4632460"/>
            <a:ext cx="12616379" cy="1724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b="true" sz="12000" spc="60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TEMPO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0" y="5994455"/>
            <a:ext cx="14905358" cy="1509068"/>
          </a:xfrm>
          <a:custGeom>
            <a:avLst/>
            <a:gdLst/>
            <a:ahLst/>
            <a:cxnLst/>
            <a:rect r="r" b="b" t="t" l="l"/>
            <a:pathLst>
              <a:path h="1509068" w="14905358">
                <a:moveTo>
                  <a:pt x="0" y="0"/>
                </a:moveTo>
                <a:lnTo>
                  <a:pt x="14905358" y="0"/>
                </a:lnTo>
                <a:lnTo>
                  <a:pt x="14905358" y="1509068"/>
                </a:lnTo>
                <a:lnTo>
                  <a:pt x="0" y="15090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7" id="17"/>
          <p:cNvSpPr txBox="true"/>
          <p:nvPr/>
        </p:nvSpPr>
        <p:spPr>
          <a:xfrm rot="0">
            <a:off x="1539037" y="3095761"/>
            <a:ext cx="10197029" cy="143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99"/>
              </a:lnSpc>
            </a:pPr>
            <a:r>
              <a:rPr lang="en-US" b="true" sz="9999" spc="999">
                <a:solidFill>
                  <a:srgbClr val="1646C4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TINY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39037" y="7819121"/>
            <a:ext cx="12616379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3000" spc="3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 FETAL MONITORING MOBILE HEALTH APPLICATION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86287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8070" y="9038455"/>
            <a:ext cx="1982403" cy="10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3298" y="5342479"/>
            <a:ext cx="19174597" cy="1325262"/>
            <a:chOff x="0" y="0"/>
            <a:chExt cx="5050100" cy="349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0099" cy="349040"/>
            </a:xfrm>
            <a:custGeom>
              <a:avLst/>
              <a:gdLst/>
              <a:ahLst/>
              <a:cxnLst/>
              <a:rect r="r" b="b" t="t" l="l"/>
              <a:pathLst>
                <a:path h="349040" w="5050099">
                  <a:moveTo>
                    <a:pt x="0" y="0"/>
                  </a:moveTo>
                  <a:lnTo>
                    <a:pt x="5050099" y="0"/>
                  </a:lnTo>
                  <a:lnTo>
                    <a:pt x="5050099" y="349040"/>
                  </a:lnTo>
                  <a:lnTo>
                    <a:pt x="0" y="34904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0100" cy="396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5" id="5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711673" y="219357"/>
            <a:ext cx="3321513" cy="4924143"/>
          </a:xfrm>
          <a:prstGeom prst="rect">
            <a:avLst/>
          </a:prstGeom>
        </p:spPr>
      </p:pic>
      <p:sp>
        <p:nvSpPr>
          <p:cNvPr name="Freeform 6" id="6"/>
          <p:cNvSpPr/>
          <p:nvPr/>
        </p:nvSpPr>
        <p:spPr>
          <a:xfrm flipH="false" flipV="false" rot="0">
            <a:off x="6205842" y="341128"/>
            <a:ext cx="10246750" cy="4648925"/>
          </a:xfrm>
          <a:custGeom>
            <a:avLst/>
            <a:gdLst/>
            <a:ahLst/>
            <a:cxnLst/>
            <a:rect r="r" b="b" t="t" l="l"/>
            <a:pathLst>
              <a:path h="4648925" w="10246750">
                <a:moveTo>
                  <a:pt x="0" y="0"/>
                </a:moveTo>
                <a:lnTo>
                  <a:pt x="10246750" y="0"/>
                </a:lnTo>
                <a:lnTo>
                  <a:pt x="10246750" y="4648926"/>
                </a:lnTo>
                <a:lnTo>
                  <a:pt x="0" y="4648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20411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576122" y="5614585"/>
            <a:ext cx="913575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6000" spc="3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INTRODUCTION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0769" y="6802705"/>
            <a:ext cx="15546461" cy="2565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9"/>
              </a:lnSpc>
            </a:pPr>
            <a:r>
              <a:rPr lang="en-US" sz="3383" spc="-1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Tiny Tempo is a cloud-based maternal monitoring platform that integrates a wearable belly band device with a mobile application and provider dashboard. The system enables real-time fetal monitoring, secure data, and communication between expecting parents and healthcare providers.</a:t>
            </a:r>
          </a:p>
          <a:p>
            <a:pPr algn="ctr">
              <a:lnSpc>
                <a:spcPts val="4059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6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94760" y="4866864"/>
            <a:ext cx="3589972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93A5A4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Photo and Video Generated by Gemini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005789" y="-526787"/>
            <a:ext cx="16643260" cy="3232019"/>
            <a:chOff x="0" y="0"/>
            <a:chExt cx="805673" cy="1564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05673" cy="156457"/>
            </a:xfrm>
            <a:custGeom>
              <a:avLst/>
              <a:gdLst/>
              <a:ahLst/>
              <a:cxnLst/>
              <a:rect r="r" b="b" t="t" l="l"/>
              <a:pathLst>
                <a:path h="156457" w="805673">
                  <a:moveTo>
                    <a:pt x="203200" y="0"/>
                  </a:moveTo>
                  <a:lnTo>
                    <a:pt x="805673" y="0"/>
                  </a:lnTo>
                  <a:lnTo>
                    <a:pt x="602473" y="156457"/>
                  </a:lnTo>
                  <a:lnTo>
                    <a:pt x="0" y="156457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47625"/>
              <a:ext cx="602473" cy="2040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82824" y="1228139"/>
            <a:ext cx="4087961" cy="722039"/>
            <a:chOff x="0" y="0"/>
            <a:chExt cx="1340471" cy="23676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30710" y="4804604"/>
            <a:ext cx="4087961" cy="722039"/>
            <a:chOff x="0" y="0"/>
            <a:chExt cx="1340471" cy="23676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053912" y="2658725"/>
            <a:ext cx="4087961" cy="722039"/>
            <a:chOff x="0" y="0"/>
            <a:chExt cx="1340471" cy="236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218671" y="1943432"/>
            <a:ext cx="4087961" cy="722039"/>
            <a:chOff x="0" y="0"/>
            <a:chExt cx="1340471" cy="2367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803869" y="6235191"/>
            <a:ext cx="4087961" cy="722039"/>
            <a:chOff x="0" y="0"/>
            <a:chExt cx="1340471" cy="23676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174032" y="4089311"/>
            <a:ext cx="4087961" cy="722039"/>
            <a:chOff x="0" y="0"/>
            <a:chExt cx="1340471" cy="23676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74691" y="3374018"/>
            <a:ext cx="4087961" cy="722039"/>
            <a:chOff x="0" y="0"/>
            <a:chExt cx="1340471" cy="23676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810034" y="6950484"/>
            <a:ext cx="4087961" cy="722039"/>
            <a:chOff x="0" y="0"/>
            <a:chExt cx="1340471" cy="2367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965951" y="5519898"/>
            <a:ext cx="4087961" cy="722039"/>
            <a:chOff x="0" y="0"/>
            <a:chExt cx="1340471" cy="23676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2986673">
            <a:off x="15373322" y="3696457"/>
            <a:ext cx="4305356" cy="11428485"/>
            <a:chOff x="0" y="0"/>
            <a:chExt cx="1133921" cy="30099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33921" cy="3009972"/>
            </a:xfrm>
            <a:custGeom>
              <a:avLst/>
              <a:gdLst/>
              <a:ahLst/>
              <a:cxnLst/>
              <a:rect r="r" b="b" t="t" l="l"/>
              <a:pathLst>
                <a:path h="3009972" w="1133921">
                  <a:moveTo>
                    <a:pt x="0" y="0"/>
                  </a:moveTo>
                  <a:lnTo>
                    <a:pt x="1133921" y="0"/>
                  </a:lnTo>
                  <a:lnTo>
                    <a:pt x="1133921" y="3009972"/>
                  </a:lnTo>
                  <a:lnTo>
                    <a:pt x="0" y="300997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1133921" cy="3057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2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grpSp>
        <p:nvGrpSpPr>
          <p:cNvPr name="Group 36" id="36"/>
          <p:cNvGrpSpPr/>
          <p:nvPr/>
        </p:nvGrpSpPr>
        <p:grpSpPr>
          <a:xfrm rot="0">
            <a:off x="2925165" y="7624391"/>
            <a:ext cx="4087961" cy="722039"/>
            <a:chOff x="0" y="0"/>
            <a:chExt cx="1340471" cy="23676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2017215" y="8336822"/>
            <a:ext cx="4087961" cy="722039"/>
            <a:chOff x="0" y="0"/>
            <a:chExt cx="1340471" cy="23676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40471" cy="236762"/>
            </a:xfrm>
            <a:custGeom>
              <a:avLst/>
              <a:gdLst/>
              <a:ahLst/>
              <a:cxnLst/>
              <a:rect r="r" b="b" t="t" l="l"/>
              <a:pathLst>
                <a:path h="236762" w="1340471">
                  <a:moveTo>
                    <a:pt x="0" y="0"/>
                  </a:moveTo>
                  <a:lnTo>
                    <a:pt x="1340471" y="0"/>
                  </a:lnTo>
                  <a:lnTo>
                    <a:pt x="134047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47625"/>
              <a:ext cx="134047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4845869" y="221577"/>
            <a:ext cx="3052126" cy="2367941"/>
          </a:xfrm>
          <a:custGeom>
            <a:avLst/>
            <a:gdLst/>
            <a:ahLst/>
            <a:cxnLst/>
            <a:rect r="r" b="b" t="t" l="l"/>
            <a:pathLst>
              <a:path h="2367941" w="3052126">
                <a:moveTo>
                  <a:pt x="0" y="0"/>
                </a:moveTo>
                <a:lnTo>
                  <a:pt x="3052126" y="0"/>
                </a:lnTo>
                <a:lnTo>
                  <a:pt x="3052126" y="2367941"/>
                </a:lnTo>
                <a:lnTo>
                  <a:pt x="0" y="23679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10887676" y="7183993"/>
            <a:ext cx="2525896" cy="2289093"/>
          </a:xfrm>
          <a:custGeom>
            <a:avLst/>
            <a:gdLst/>
            <a:ahLst/>
            <a:cxnLst/>
            <a:rect r="r" b="b" t="t" l="l"/>
            <a:pathLst>
              <a:path h="2289093" w="2525896">
                <a:moveTo>
                  <a:pt x="0" y="0"/>
                </a:moveTo>
                <a:lnTo>
                  <a:pt x="2525897" y="0"/>
                </a:lnTo>
                <a:lnTo>
                  <a:pt x="2525897" y="2289094"/>
                </a:lnTo>
                <a:lnTo>
                  <a:pt x="0" y="22890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2342175">
            <a:off x="2498158" y="3544105"/>
            <a:ext cx="1445855" cy="3243038"/>
          </a:xfrm>
          <a:custGeom>
            <a:avLst/>
            <a:gdLst/>
            <a:ahLst/>
            <a:cxnLst/>
            <a:rect r="r" b="b" t="t" l="l"/>
            <a:pathLst>
              <a:path h="3243038" w="1445855">
                <a:moveTo>
                  <a:pt x="0" y="0"/>
                </a:moveTo>
                <a:lnTo>
                  <a:pt x="1445854" y="0"/>
                </a:lnTo>
                <a:lnTo>
                  <a:pt x="1445854" y="3243038"/>
                </a:lnTo>
                <a:lnTo>
                  <a:pt x="0" y="324303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2294547" y="1348398"/>
            <a:ext cx="3864516" cy="42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</a:pPr>
            <a:r>
              <a:rPr lang="en-US" b="true" sz="2409" spc="24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INTRODUCTION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242433" y="4999762"/>
            <a:ext cx="3864516" cy="293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1"/>
              </a:lnSpc>
            </a:pPr>
            <a:r>
              <a:rPr lang="en-US" b="true" sz="1686" spc="16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 CASES AND USE CASE DIAGRAM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318309" y="4275033"/>
            <a:ext cx="3864516" cy="3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</a:pPr>
            <a:r>
              <a:rPr lang="en-US" b="true" sz="1847" spc="18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EVOLUTIONARY REQUIREMENTS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165635" y="2864536"/>
            <a:ext cx="3864516" cy="306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3"/>
              </a:lnSpc>
            </a:pPr>
            <a:r>
              <a:rPr lang="en-US" b="true" sz="1767" spc="17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NON-FUNCTIONAL REQUIREMENTS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330394" y="2100632"/>
            <a:ext cx="3864516" cy="35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b="true" sz="2008" spc="2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FUNCTIONAL REQUIREMENTS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289146" y="3491925"/>
            <a:ext cx="3864516" cy="424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3"/>
              </a:lnSpc>
            </a:pPr>
            <a:r>
              <a:rPr lang="en-US" b="true" sz="2409" spc="24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 CONSTRAINTS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32522" y="1173684"/>
            <a:ext cx="8211478" cy="8763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b="true" sz="6000" spc="3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AGENDA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6077674" y="5656365"/>
            <a:ext cx="3864516" cy="397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8"/>
              </a:lnSpc>
            </a:pPr>
            <a:r>
              <a:rPr lang="en-US" b="true" sz="2248" spc="22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 MODEL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915592" y="6457013"/>
            <a:ext cx="3864516" cy="312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6"/>
              </a:lnSpc>
            </a:pPr>
            <a:r>
              <a:rPr lang="en-US" b="true" sz="1847" spc="184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SYSTEM ARCHITECTURE DESIGN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036887" y="7797063"/>
            <a:ext cx="3864516" cy="35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b="true" sz="2008" spc="2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MOCKUP INTERFACE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3921756" y="7105987"/>
            <a:ext cx="3864516" cy="375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36"/>
              </a:lnSpc>
            </a:pPr>
            <a:r>
              <a:rPr lang="en-US" b="true" sz="2168" spc="216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DESIGN PATTERNS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28937" y="8500631"/>
            <a:ext cx="3864516" cy="35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1"/>
              </a:lnSpc>
            </a:pPr>
            <a:r>
              <a:rPr lang="en-US" b="true" sz="2008" spc="2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CONCLUSION / REFRENCES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0574" y="-1090999"/>
            <a:ext cx="12186851" cy="3605084"/>
            <a:chOff x="0" y="0"/>
            <a:chExt cx="3209706" cy="9494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9706" cy="949487"/>
            </a:xfrm>
            <a:custGeom>
              <a:avLst/>
              <a:gdLst/>
              <a:ahLst/>
              <a:cxnLst/>
              <a:rect r="r" b="b" t="t" l="l"/>
              <a:pathLst>
                <a:path h="949487" w="3209706">
                  <a:moveTo>
                    <a:pt x="2971581" y="0"/>
                  </a:moveTo>
                  <a:lnTo>
                    <a:pt x="3209706" y="238125"/>
                  </a:lnTo>
                  <a:lnTo>
                    <a:pt x="3209706" y="711362"/>
                  </a:lnTo>
                  <a:lnTo>
                    <a:pt x="2971581" y="949487"/>
                  </a:lnTo>
                  <a:lnTo>
                    <a:pt x="238125" y="949487"/>
                  </a:lnTo>
                  <a:lnTo>
                    <a:pt x="0" y="7113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97158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082706" cy="870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050574" y="8952671"/>
            <a:ext cx="12186851" cy="3530943"/>
            <a:chOff x="0" y="0"/>
            <a:chExt cx="3209706" cy="9299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09706" cy="929960"/>
            </a:xfrm>
            <a:custGeom>
              <a:avLst/>
              <a:gdLst/>
              <a:ahLst/>
              <a:cxnLst/>
              <a:rect r="r" b="b" t="t" l="l"/>
              <a:pathLst>
                <a:path h="929960" w="3209706">
                  <a:moveTo>
                    <a:pt x="2971581" y="0"/>
                  </a:moveTo>
                  <a:lnTo>
                    <a:pt x="3209706" y="238125"/>
                  </a:lnTo>
                  <a:lnTo>
                    <a:pt x="3209706" y="691835"/>
                  </a:lnTo>
                  <a:lnTo>
                    <a:pt x="2971581" y="929960"/>
                  </a:lnTo>
                  <a:lnTo>
                    <a:pt x="238125" y="929960"/>
                  </a:lnTo>
                  <a:lnTo>
                    <a:pt x="0" y="69183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97158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63500" y="15875"/>
              <a:ext cx="3082706" cy="8505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74539" y="9847048"/>
            <a:ext cx="18637078" cy="898954"/>
            <a:chOff x="0" y="0"/>
            <a:chExt cx="4908531" cy="236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08531" cy="236762"/>
            </a:xfrm>
            <a:custGeom>
              <a:avLst/>
              <a:gdLst/>
              <a:ahLst/>
              <a:cxnLst/>
              <a:rect r="r" b="b" t="t" l="l"/>
              <a:pathLst>
                <a:path h="236762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90853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834507" y="3366535"/>
            <a:ext cx="2762678" cy="2762667"/>
            <a:chOff x="0" y="0"/>
            <a:chExt cx="6350000" cy="6349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2"/>
              <a:stretch>
                <a:fillRect l="0" t="-21048" r="0" b="-21048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5841650"/>
            <a:ext cx="4476235" cy="898954"/>
            <a:chOff x="0" y="0"/>
            <a:chExt cx="1178926" cy="23676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78926" cy="236762"/>
            </a:xfrm>
            <a:custGeom>
              <a:avLst/>
              <a:gdLst/>
              <a:ahLst/>
              <a:cxnLst/>
              <a:rect r="r" b="b" t="t" l="l"/>
              <a:pathLst>
                <a:path h="236762" w="1178926">
                  <a:moveTo>
                    <a:pt x="0" y="0"/>
                  </a:moveTo>
                  <a:lnTo>
                    <a:pt x="1178926" y="0"/>
                  </a:lnTo>
                  <a:lnTo>
                    <a:pt x="1178926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646C4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178926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7711689" y="3366535"/>
            <a:ext cx="2762678" cy="2762667"/>
            <a:chOff x="0" y="0"/>
            <a:chExt cx="6350000" cy="63499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6905882" y="5841650"/>
            <a:ext cx="4476235" cy="898954"/>
            <a:chOff x="0" y="0"/>
            <a:chExt cx="1178926" cy="2367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78926" cy="236762"/>
            </a:xfrm>
            <a:custGeom>
              <a:avLst/>
              <a:gdLst/>
              <a:ahLst/>
              <a:cxnLst/>
              <a:rect r="r" b="b" t="t" l="l"/>
              <a:pathLst>
                <a:path h="236762" w="1178926">
                  <a:moveTo>
                    <a:pt x="0" y="0"/>
                  </a:moveTo>
                  <a:lnTo>
                    <a:pt x="1178926" y="0"/>
                  </a:lnTo>
                  <a:lnTo>
                    <a:pt x="1178926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646C4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1178926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3588872" y="3366535"/>
            <a:ext cx="2762678" cy="2762667"/>
            <a:chOff x="0" y="0"/>
            <a:chExt cx="6350000" cy="63499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4"/>
              <a:stretch>
                <a:fillRect l="-12353" t="-22059" r="-12353" b="-2647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783065" y="5841650"/>
            <a:ext cx="4476235" cy="898954"/>
            <a:chOff x="0" y="0"/>
            <a:chExt cx="1178926" cy="23676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78926" cy="236762"/>
            </a:xfrm>
            <a:custGeom>
              <a:avLst/>
              <a:gdLst/>
              <a:ahLst/>
              <a:cxnLst/>
              <a:rect r="r" b="b" t="t" l="l"/>
              <a:pathLst>
                <a:path h="236762" w="1178926">
                  <a:moveTo>
                    <a:pt x="0" y="0"/>
                  </a:moveTo>
                  <a:lnTo>
                    <a:pt x="1178926" y="0"/>
                  </a:lnTo>
                  <a:lnTo>
                    <a:pt x="1178926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1646C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47625"/>
              <a:ext cx="1178926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80498" y="113347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THE TEAM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9188" y="6043477"/>
            <a:ext cx="40952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 spc="9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SLOAN ATKINS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6794324"/>
            <a:ext cx="447623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 spc="10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Junior, Majoring in Computer Science &amp; Mathematics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96370" y="6043477"/>
            <a:ext cx="40952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 spc="9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KATE BRYKALOVA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905882" y="6794324"/>
            <a:ext cx="447623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 spc="10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Senior, Majoring in Computer Science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73553" y="6043477"/>
            <a:ext cx="4095259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 spc="9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ELLA HARTSELL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783065" y="6794324"/>
            <a:ext cx="4476235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500" spc="105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Junior, Majoring in Computer Science &amp; Interactive Media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4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0574" y="-993491"/>
            <a:ext cx="12186851" cy="4653290"/>
            <a:chOff x="0" y="0"/>
            <a:chExt cx="3209706" cy="1225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9706" cy="1225558"/>
            </a:xfrm>
            <a:custGeom>
              <a:avLst/>
              <a:gdLst/>
              <a:ahLst/>
              <a:cxnLst/>
              <a:rect r="r" b="b" t="t" l="l"/>
              <a:pathLst>
                <a:path h="1225558" w="3209706">
                  <a:moveTo>
                    <a:pt x="2971581" y="0"/>
                  </a:moveTo>
                  <a:lnTo>
                    <a:pt x="3209706" y="238125"/>
                  </a:lnTo>
                  <a:lnTo>
                    <a:pt x="3209706" y="987433"/>
                  </a:lnTo>
                  <a:lnTo>
                    <a:pt x="2971581" y="1225558"/>
                  </a:lnTo>
                  <a:lnTo>
                    <a:pt x="238125" y="1225558"/>
                  </a:lnTo>
                  <a:lnTo>
                    <a:pt x="0" y="98743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97158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082706" cy="114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41017">
            <a:off x="12308026" y="2330287"/>
            <a:ext cx="5655591" cy="2914804"/>
          </a:xfrm>
          <a:custGeom>
            <a:avLst/>
            <a:gdLst/>
            <a:ahLst/>
            <a:cxnLst/>
            <a:rect r="r" b="b" t="t" l="l"/>
            <a:pathLst>
              <a:path h="2914804" w="5655591">
                <a:moveTo>
                  <a:pt x="0" y="0"/>
                </a:moveTo>
                <a:lnTo>
                  <a:pt x="5655591" y="0"/>
                </a:lnTo>
                <a:lnTo>
                  <a:pt x="5655591" y="2914804"/>
                </a:lnTo>
                <a:lnTo>
                  <a:pt x="0" y="291480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296" t="-42583" r="-29857" b="-61865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0498" y="216217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CONCEPT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5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169451" y="4947716"/>
            <a:ext cx="4016285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spc="25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USER ROLES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162036" y="5956374"/>
            <a:ext cx="5127094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Hospital Administrator</a:t>
            </a:r>
          </a:p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Healthcare Provider</a:t>
            </a:r>
          </a:p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Expecting Parents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050574" y="4880777"/>
            <a:ext cx="6145130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spc="25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CORE COMPONENTS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050574" y="5879545"/>
            <a:ext cx="5809498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Wearable Band 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Stomach Monitor Device</a:t>
            </a:r>
          </a:p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Mobile Application</a:t>
            </a:r>
          </a:p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         Patient interface</a:t>
            </a:r>
          </a:p>
          <a:p>
            <a:pPr algn="l" marL="647703" indent="-323852" lvl="1">
              <a:lnSpc>
                <a:spcPts val="36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Provider Dashboard 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1090999"/>
            <a:ext cx="16230600" cy="5087639"/>
            <a:chOff x="0" y="0"/>
            <a:chExt cx="4274726" cy="1339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339954"/>
            </a:xfrm>
            <a:custGeom>
              <a:avLst/>
              <a:gdLst/>
              <a:ahLst/>
              <a:cxnLst/>
              <a:rect r="r" b="b" t="t" l="l"/>
              <a:pathLst>
                <a:path h="1339954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1101829"/>
                  </a:lnTo>
                  <a:lnTo>
                    <a:pt x="4036601" y="1339954"/>
                  </a:lnTo>
                  <a:lnTo>
                    <a:pt x="238125" y="1339954"/>
                  </a:lnTo>
                  <a:lnTo>
                    <a:pt x="0" y="110182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4147726" cy="126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703054"/>
            <a:ext cx="16230600" cy="3505103"/>
            <a:chOff x="0" y="0"/>
            <a:chExt cx="4274726" cy="9231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923155"/>
            </a:xfrm>
            <a:custGeom>
              <a:avLst/>
              <a:gdLst/>
              <a:ahLst/>
              <a:cxnLst/>
              <a:rect r="r" b="b" t="t" l="l"/>
              <a:pathLst>
                <a:path h="923155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923155"/>
                  </a:lnTo>
                  <a:lnTo>
                    <a:pt x="0" y="923155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274726" cy="9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6448425" y="4703054"/>
            <a:ext cx="0" cy="3505103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1839575" y="4703054"/>
            <a:ext cx="0" cy="3505103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531832" y="4202943"/>
            <a:ext cx="1897331" cy="1881115"/>
          </a:xfrm>
          <a:custGeom>
            <a:avLst/>
            <a:gdLst/>
            <a:ahLst/>
            <a:cxnLst/>
            <a:rect r="r" b="b" t="t" l="l"/>
            <a:pathLst>
              <a:path h="1881115" w="1897331">
                <a:moveTo>
                  <a:pt x="0" y="0"/>
                </a:moveTo>
                <a:lnTo>
                  <a:pt x="1897331" y="0"/>
                </a:lnTo>
                <a:lnTo>
                  <a:pt x="1897331" y="1881114"/>
                </a:lnTo>
                <a:lnTo>
                  <a:pt x="0" y="188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141" t="-52010" r="-243594" b="-97121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0498" y="2296096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FUNCTIONAL REQUIREMENTS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0498" y="5630105"/>
            <a:ext cx="4601744" cy="16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 spc="2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ACCOUNT &amp; ACCESS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2689" y="5630105"/>
            <a:ext cx="4883920" cy="16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 spc="2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CARE COORDINATION &amp; DEVICE WORKFLOW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134850" y="5630105"/>
            <a:ext cx="4883920" cy="167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 spc="2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MONITORING, ALERTS &amp; DATA MANAGEMENT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0712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4951" y="7457903"/>
            <a:ext cx="3750661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FR-1, FR-2, FR-3, FR-4, FR-16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28700" y="8160532"/>
            <a:ext cx="16230600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6985355" y="7457903"/>
            <a:ext cx="4317291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FR-5, FR-6, FR-7, FR-8, FR-9, FR-14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84248" y="7457903"/>
            <a:ext cx="5185124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FR-10, FR-11, FR-12, FR-13, FR-15, FR-17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837857" y="4202943"/>
            <a:ext cx="1897331" cy="1881115"/>
          </a:xfrm>
          <a:custGeom>
            <a:avLst/>
            <a:gdLst/>
            <a:ahLst/>
            <a:cxnLst/>
            <a:rect r="r" b="b" t="t" l="l"/>
            <a:pathLst>
              <a:path h="1881115" w="1897331">
                <a:moveTo>
                  <a:pt x="0" y="0"/>
                </a:moveTo>
                <a:lnTo>
                  <a:pt x="1897331" y="0"/>
                </a:lnTo>
                <a:lnTo>
                  <a:pt x="1897331" y="1881114"/>
                </a:lnTo>
                <a:lnTo>
                  <a:pt x="0" y="188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955" t="-52010" r="-139779" b="-97121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1302645" y="4202943"/>
            <a:ext cx="1897331" cy="1881115"/>
          </a:xfrm>
          <a:custGeom>
            <a:avLst/>
            <a:gdLst/>
            <a:ahLst/>
            <a:cxnLst/>
            <a:rect r="r" b="b" t="t" l="l"/>
            <a:pathLst>
              <a:path h="1881115" w="1897331">
                <a:moveTo>
                  <a:pt x="0" y="0"/>
                </a:moveTo>
                <a:lnTo>
                  <a:pt x="1897332" y="0"/>
                </a:lnTo>
                <a:lnTo>
                  <a:pt x="1897332" y="1881114"/>
                </a:lnTo>
                <a:lnTo>
                  <a:pt x="0" y="18811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43422" t="-49517" r="-27312" b="-99614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1090999"/>
            <a:ext cx="16230600" cy="5087639"/>
            <a:chOff x="0" y="0"/>
            <a:chExt cx="4274726" cy="1339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339954"/>
            </a:xfrm>
            <a:custGeom>
              <a:avLst/>
              <a:gdLst/>
              <a:ahLst/>
              <a:cxnLst/>
              <a:rect r="r" b="b" t="t" l="l"/>
              <a:pathLst>
                <a:path h="1339954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1101829"/>
                  </a:lnTo>
                  <a:lnTo>
                    <a:pt x="4036601" y="1339954"/>
                  </a:lnTo>
                  <a:lnTo>
                    <a:pt x="238125" y="1339954"/>
                  </a:lnTo>
                  <a:lnTo>
                    <a:pt x="0" y="110182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4147726" cy="126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703054"/>
            <a:ext cx="16230600" cy="3505103"/>
            <a:chOff x="0" y="0"/>
            <a:chExt cx="4274726" cy="9231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923155"/>
            </a:xfrm>
            <a:custGeom>
              <a:avLst/>
              <a:gdLst/>
              <a:ahLst/>
              <a:cxnLst/>
              <a:rect r="r" b="b" t="t" l="l"/>
              <a:pathLst>
                <a:path h="923155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923155"/>
                  </a:lnTo>
                  <a:lnTo>
                    <a:pt x="0" y="923155"/>
                  </a:lnTo>
                  <a:close/>
                </a:path>
              </a:pathLst>
            </a:custGeom>
            <a:solidFill>
              <a:srgbClr val="FFFFFF"/>
            </a:solidFill>
            <a:ln w="142875" cap="sq">
              <a:solidFill>
                <a:srgbClr val="082266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274726" cy="9707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 flipV="true">
            <a:off x="6448425" y="4703054"/>
            <a:ext cx="0" cy="3505103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 flipV="true">
            <a:off x="11839575" y="4703054"/>
            <a:ext cx="0" cy="3505103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4851883" y="4072840"/>
            <a:ext cx="1956419" cy="1886547"/>
          </a:xfrm>
          <a:custGeom>
            <a:avLst/>
            <a:gdLst/>
            <a:ahLst/>
            <a:cxnLst/>
            <a:rect r="r" b="b" t="t" l="l"/>
            <a:pathLst>
              <a:path h="1886547" w="1956419">
                <a:moveTo>
                  <a:pt x="0" y="0"/>
                </a:moveTo>
                <a:lnTo>
                  <a:pt x="1956418" y="0"/>
                </a:lnTo>
                <a:lnTo>
                  <a:pt x="1956418" y="1886547"/>
                </a:lnTo>
                <a:lnTo>
                  <a:pt x="0" y="1886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898" t="-107817" r="-365482" b="-148963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80498" y="1815415"/>
            <a:ext cx="15327005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NON-FUNCTIONAL REQUIREMENTS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712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98322" y="5906330"/>
            <a:ext cx="4883920" cy="112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 spc="20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SECURITY</a:t>
            </a:r>
            <a:r>
              <a:rPr lang="en-US" b="true" sz="4000" spc="20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&amp; COMPLIANCE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69905" y="5906330"/>
            <a:ext cx="4883920" cy="112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 spc="20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PERFORMANCE &amp; USABILITY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127057" y="5906330"/>
            <a:ext cx="4883920" cy="1127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00"/>
              </a:lnSpc>
            </a:pPr>
            <a:r>
              <a:rPr lang="en-US" b="true" sz="4000" spc="20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RELI</a:t>
            </a:r>
            <a:r>
              <a:rPr lang="en-US" b="true" sz="4000" spc="20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ABILITY &amp; SCALABILITY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64951" y="7352070"/>
            <a:ext cx="3750661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0822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2278">
                <a:solidFill>
                  <a:srgbClr val="0822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FR-1, NFR-2, NFR-3, NFR-12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14806" y="7352070"/>
            <a:ext cx="4858387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0822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2278">
                <a:solidFill>
                  <a:srgbClr val="0822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FR-4, NFR-5, NFR-6, NFR-9, NFR-10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658725" y="7352070"/>
            <a:ext cx="3750661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0822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</a:t>
            </a:r>
            <a:r>
              <a:rPr lang="en-US" sz="2278">
                <a:solidFill>
                  <a:srgbClr val="082266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FR-7, NFR-8, NFR-11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0340588" y="4114502"/>
            <a:ext cx="1956419" cy="1867497"/>
          </a:xfrm>
          <a:custGeom>
            <a:avLst/>
            <a:gdLst/>
            <a:ahLst/>
            <a:cxnLst/>
            <a:rect r="r" b="b" t="t" l="l"/>
            <a:pathLst>
              <a:path h="1867497" w="1956419">
                <a:moveTo>
                  <a:pt x="0" y="0"/>
                </a:moveTo>
                <a:lnTo>
                  <a:pt x="1956419" y="0"/>
                </a:lnTo>
                <a:lnTo>
                  <a:pt x="1956419" y="1867496"/>
                </a:lnTo>
                <a:lnTo>
                  <a:pt x="0" y="1867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509" t="-108858" r="-208871" b="-151562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649363" y="4181177"/>
            <a:ext cx="1956419" cy="1886547"/>
          </a:xfrm>
          <a:custGeom>
            <a:avLst/>
            <a:gdLst/>
            <a:ahLst/>
            <a:cxnLst/>
            <a:rect r="r" b="b" t="t" l="l"/>
            <a:pathLst>
              <a:path h="1886547" w="1956419">
                <a:moveTo>
                  <a:pt x="0" y="0"/>
                </a:moveTo>
                <a:lnTo>
                  <a:pt x="1956419" y="0"/>
                </a:lnTo>
                <a:lnTo>
                  <a:pt x="1956419" y="1886546"/>
                </a:lnTo>
                <a:lnTo>
                  <a:pt x="0" y="18865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7955" t="-107817" r="-48425" b="-148963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1090999"/>
            <a:ext cx="16230600" cy="4119867"/>
            <a:chOff x="0" y="0"/>
            <a:chExt cx="4274726" cy="10850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085068"/>
            </a:xfrm>
            <a:custGeom>
              <a:avLst/>
              <a:gdLst/>
              <a:ahLst/>
              <a:cxnLst/>
              <a:rect r="r" b="b" t="t" l="l"/>
              <a:pathLst>
                <a:path h="1085068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846943"/>
                  </a:lnTo>
                  <a:lnTo>
                    <a:pt x="4036601" y="1085068"/>
                  </a:lnTo>
                  <a:lnTo>
                    <a:pt x="238125" y="1085068"/>
                  </a:lnTo>
                  <a:lnTo>
                    <a:pt x="0" y="84694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4147726" cy="10056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22170" y="3225221"/>
            <a:ext cx="2765461" cy="5550147"/>
            <a:chOff x="0" y="0"/>
            <a:chExt cx="728352" cy="146176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8352" cy="1461767"/>
            </a:xfrm>
            <a:custGeom>
              <a:avLst/>
              <a:gdLst/>
              <a:ahLst/>
              <a:cxnLst/>
              <a:rect r="r" b="b" t="t" l="l"/>
              <a:pathLst>
                <a:path h="1461767" w="728352">
                  <a:moveTo>
                    <a:pt x="0" y="0"/>
                  </a:moveTo>
                  <a:lnTo>
                    <a:pt x="728352" y="0"/>
                  </a:lnTo>
                  <a:lnTo>
                    <a:pt x="728352" y="1461767"/>
                  </a:lnTo>
                  <a:lnTo>
                    <a:pt x="0" y="14617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D419F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28352" cy="1509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</a:p>
          </p:txBody>
        </p:sp>
      </p:grpSp>
      <p:sp>
        <p:nvSpPr>
          <p:cNvPr name="AutoShape 11" id="11"/>
          <p:cNvSpPr/>
          <p:nvPr/>
        </p:nvSpPr>
        <p:spPr>
          <a:xfrm>
            <a:off x="2016560" y="3887680"/>
            <a:ext cx="1976682" cy="0"/>
          </a:xfrm>
          <a:prstGeom prst="line">
            <a:avLst/>
          </a:prstGeom>
          <a:ln cap="flat" w="3810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4689585" y="3225221"/>
            <a:ext cx="2765461" cy="5550147"/>
            <a:chOff x="0" y="0"/>
            <a:chExt cx="728352" cy="14617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28352" cy="1461767"/>
            </a:xfrm>
            <a:custGeom>
              <a:avLst/>
              <a:gdLst/>
              <a:ahLst/>
              <a:cxnLst/>
              <a:rect r="r" b="b" t="t" l="l"/>
              <a:pathLst>
                <a:path h="1461767" w="728352">
                  <a:moveTo>
                    <a:pt x="0" y="0"/>
                  </a:moveTo>
                  <a:lnTo>
                    <a:pt x="728352" y="0"/>
                  </a:lnTo>
                  <a:lnTo>
                    <a:pt x="728352" y="1461767"/>
                  </a:lnTo>
                  <a:lnTo>
                    <a:pt x="0" y="14617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D419F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728352" cy="1509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</a:p>
          </p:txBody>
        </p:sp>
      </p:grpSp>
      <p:sp>
        <p:nvSpPr>
          <p:cNvPr name="AutoShape 15" id="15"/>
          <p:cNvSpPr/>
          <p:nvPr/>
        </p:nvSpPr>
        <p:spPr>
          <a:xfrm>
            <a:off x="5083975" y="3887680"/>
            <a:ext cx="1976682" cy="0"/>
          </a:xfrm>
          <a:prstGeom prst="line">
            <a:avLst/>
          </a:prstGeom>
          <a:ln cap="flat" w="3810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5115604" y="4059130"/>
            <a:ext cx="1976682" cy="1106666"/>
            <a:chOff x="0" y="0"/>
            <a:chExt cx="520608" cy="29146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LC -1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Backend Language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15604" y="5444001"/>
            <a:ext cx="1976682" cy="1112587"/>
            <a:chOff x="0" y="0"/>
            <a:chExt cx="520608" cy="29302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0608" cy="293027"/>
            </a:xfrm>
            <a:custGeom>
              <a:avLst/>
              <a:gdLst/>
              <a:ahLst/>
              <a:cxnLst/>
              <a:rect r="r" b="b" t="t" l="l"/>
              <a:pathLst>
                <a:path h="293027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3027"/>
                  </a:lnTo>
                  <a:lnTo>
                    <a:pt x="0" y="293027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520608" cy="3406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LC - 2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Frontend Language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020425" y="4059130"/>
            <a:ext cx="1976682" cy="773291"/>
            <a:chOff x="0" y="0"/>
            <a:chExt cx="520608" cy="20366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20608" cy="203665"/>
            </a:xfrm>
            <a:custGeom>
              <a:avLst/>
              <a:gdLst/>
              <a:ahLst/>
              <a:cxnLst/>
              <a:rect r="r" b="b" t="t" l="l"/>
              <a:pathLst>
                <a:path h="203665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03665"/>
                  </a:lnTo>
                  <a:lnTo>
                    <a:pt x="0" y="203665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47625"/>
              <a:ext cx="520608" cy="251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TC -1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Version Control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020425" y="5000456"/>
            <a:ext cx="1976682" cy="1106666"/>
            <a:chOff x="0" y="0"/>
            <a:chExt cx="520608" cy="2914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TC - 2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UI Design &amp; Prototyping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014510" y="6313257"/>
            <a:ext cx="1976682" cy="773291"/>
            <a:chOff x="0" y="0"/>
            <a:chExt cx="520608" cy="2036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20608" cy="203665"/>
            </a:xfrm>
            <a:custGeom>
              <a:avLst/>
              <a:gdLst/>
              <a:ahLst/>
              <a:cxnLst/>
              <a:rect r="r" b="b" t="t" l="l"/>
              <a:pathLst>
                <a:path h="203665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03665"/>
                  </a:lnTo>
                  <a:lnTo>
                    <a:pt x="0" y="203665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47625"/>
              <a:ext cx="520608" cy="2512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TC - 3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CI/CD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014510" y="7292683"/>
            <a:ext cx="1976682" cy="1106666"/>
            <a:chOff x="0" y="0"/>
            <a:chExt cx="520608" cy="29146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TC - 4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Team Communication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759846" y="3225221"/>
            <a:ext cx="2765461" cy="5550147"/>
            <a:chOff x="0" y="0"/>
            <a:chExt cx="728352" cy="146176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8352" cy="1461767"/>
            </a:xfrm>
            <a:custGeom>
              <a:avLst/>
              <a:gdLst/>
              <a:ahLst/>
              <a:cxnLst/>
              <a:rect r="r" b="b" t="t" l="l"/>
              <a:pathLst>
                <a:path h="1461767" w="728352">
                  <a:moveTo>
                    <a:pt x="0" y="0"/>
                  </a:moveTo>
                  <a:lnTo>
                    <a:pt x="728352" y="0"/>
                  </a:lnTo>
                  <a:lnTo>
                    <a:pt x="728352" y="1461767"/>
                  </a:lnTo>
                  <a:lnTo>
                    <a:pt x="0" y="14617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D419F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728352" cy="1509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</a:p>
          </p:txBody>
        </p:sp>
      </p:grpSp>
      <p:sp>
        <p:nvSpPr>
          <p:cNvPr name="AutoShape 37" id="37"/>
          <p:cNvSpPr/>
          <p:nvPr/>
        </p:nvSpPr>
        <p:spPr>
          <a:xfrm>
            <a:off x="8151066" y="3868630"/>
            <a:ext cx="1976682" cy="0"/>
          </a:xfrm>
          <a:prstGeom prst="line">
            <a:avLst/>
          </a:prstGeom>
          <a:ln cap="flat" w="3810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8151066" y="4059130"/>
            <a:ext cx="1976682" cy="1106666"/>
            <a:chOff x="0" y="0"/>
            <a:chExt cx="520608" cy="29146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PC -1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Mobile Platform Support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8160707" y="5426548"/>
            <a:ext cx="1976682" cy="1106666"/>
            <a:chOff x="0" y="0"/>
            <a:chExt cx="520608" cy="29146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PC - 2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Cloud Hosting Platform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830108" y="3225221"/>
            <a:ext cx="2765461" cy="5550147"/>
            <a:chOff x="0" y="0"/>
            <a:chExt cx="728352" cy="146176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8352" cy="1461767"/>
            </a:xfrm>
            <a:custGeom>
              <a:avLst/>
              <a:gdLst/>
              <a:ahLst/>
              <a:cxnLst/>
              <a:rect r="r" b="b" t="t" l="l"/>
              <a:pathLst>
                <a:path h="1461767" w="728352">
                  <a:moveTo>
                    <a:pt x="0" y="0"/>
                  </a:moveTo>
                  <a:lnTo>
                    <a:pt x="728352" y="0"/>
                  </a:lnTo>
                  <a:lnTo>
                    <a:pt x="728352" y="1461767"/>
                  </a:lnTo>
                  <a:lnTo>
                    <a:pt x="0" y="14617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D419F"/>
              </a:solidFill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28352" cy="1509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</a:p>
          </p:txBody>
        </p:sp>
      </p:grpSp>
      <p:sp>
        <p:nvSpPr>
          <p:cNvPr name="AutoShape 47" id="47"/>
          <p:cNvSpPr/>
          <p:nvPr/>
        </p:nvSpPr>
        <p:spPr>
          <a:xfrm>
            <a:off x="11224497" y="3887680"/>
            <a:ext cx="1976682" cy="0"/>
          </a:xfrm>
          <a:prstGeom prst="line">
            <a:avLst/>
          </a:prstGeom>
          <a:ln cap="flat" w="3810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8" id="48"/>
          <p:cNvGrpSpPr/>
          <p:nvPr/>
        </p:nvGrpSpPr>
        <p:grpSpPr>
          <a:xfrm rot="0">
            <a:off x="11191048" y="4059130"/>
            <a:ext cx="1976682" cy="1106666"/>
            <a:chOff x="0" y="0"/>
            <a:chExt cx="520608" cy="291468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HC -1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 Wearable Belly Band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1220633" y="5424760"/>
            <a:ext cx="1976682" cy="1106666"/>
            <a:chOff x="0" y="0"/>
            <a:chExt cx="520608" cy="29146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HC - 2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Bluetooth Capability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230158" y="6790390"/>
            <a:ext cx="1976682" cy="1106666"/>
            <a:chOff x="0" y="0"/>
            <a:chExt cx="520608" cy="29146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HC - 3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Development &amp; Testing 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3900369" y="3225221"/>
            <a:ext cx="2765461" cy="5550147"/>
            <a:chOff x="0" y="0"/>
            <a:chExt cx="728352" cy="146176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28352" cy="1461767"/>
            </a:xfrm>
            <a:custGeom>
              <a:avLst/>
              <a:gdLst/>
              <a:ahLst/>
              <a:cxnLst/>
              <a:rect r="r" b="b" t="t" l="l"/>
              <a:pathLst>
                <a:path h="1461767" w="728352">
                  <a:moveTo>
                    <a:pt x="0" y="0"/>
                  </a:moveTo>
                  <a:lnTo>
                    <a:pt x="728352" y="0"/>
                  </a:lnTo>
                  <a:lnTo>
                    <a:pt x="728352" y="1461767"/>
                  </a:lnTo>
                  <a:lnTo>
                    <a:pt x="0" y="1461767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1D419F"/>
              </a:solidFill>
              <a:prstDash val="solid"/>
              <a:miter/>
            </a:ln>
          </p:spPr>
        </p:sp>
        <p:sp>
          <p:nvSpPr>
            <p:cNvPr name="TextBox 59" id="59"/>
            <p:cNvSpPr txBox="true"/>
            <p:nvPr/>
          </p:nvSpPr>
          <p:spPr>
            <a:xfrm>
              <a:off x="0" y="-47625"/>
              <a:ext cx="728352" cy="15093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</a:p>
          </p:txBody>
        </p:sp>
      </p:grpSp>
      <p:sp>
        <p:nvSpPr>
          <p:cNvPr name="AutoShape 60" id="60"/>
          <p:cNvSpPr/>
          <p:nvPr/>
        </p:nvSpPr>
        <p:spPr>
          <a:xfrm>
            <a:off x="14294758" y="3887680"/>
            <a:ext cx="1976682" cy="0"/>
          </a:xfrm>
          <a:prstGeom prst="line">
            <a:avLst/>
          </a:prstGeom>
          <a:ln cap="flat" w="3810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1" id="61"/>
          <p:cNvGrpSpPr/>
          <p:nvPr/>
        </p:nvGrpSpPr>
        <p:grpSpPr>
          <a:xfrm rot="0">
            <a:off x="14320295" y="4059130"/>
            <a:ext cx="1976682" cy="1106666"/>
            <a:chOff x="0" y="0"/>
            <a:chExt cx="520608" cy="291468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NC -1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Internet Connectivity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4298623" y="5289621"/>
            <a:ext cx="1976682" cy="1152631"/>
            <a:chOff x="0" y="0"/>
            <a:chExt cx="520608" cy="303573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20608" cy="303573"/>
            </a:xfrm>
            <a:custGeom>
              <a:avLst/>
              <a:gdLst/>
              <a:ahLst/>
              <a:cxnLst/>
              <a:rect r="r" b="b" t="t" l="l"/>
              <a:pathLst>
                <a:path h="303573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303573"/>
                  </a:lnTo>
                  <a:lnTo>
                    <a:pt x="0" y="303573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520608" cy="3511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NC - 2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Encrypted Transmission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4290894" y="6533215"/>
            <a:ext cx="1976682" cy="1106666"/>
            <a:chOff x="0" y="0"/>
            <a:chExt cx="520608" cy="29146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NC - 3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Offline Data Buffering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4293470" y="7748943"/>
            <a:ext cx="1976682" cy="835909"/>
            <a:chOff x="0" y="0"/>
            <a:chExt cx="520608" cy="220157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520608" cy="220157"/>
            </a:xfrm>
            <a:custGeom>
              <a:avLst/>
              <a:gdLst/>
              <a:ahLst/>
              <a:cxnLst/>
              <a:rect r="r" b="b" t="t" l="l"/>
              <a:pathLst>
                <a:path h="220157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20157"/>
                  </a:lnTo>
                  <a:lnTo>
                    <a:pt x="0" y="220157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47625"/>
              <a:ext cx="520608" cy="2677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NC - 4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API Hosting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8160707" y="6790390"/>
            <a:ext cx="1976682" cy="1106666"/>
            <a:chOff x="0" y="0"/>
            <a:chExt cx="520608" cy="291468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520608" cy="291468"/>
            </a:xfrm>
            <a:custGeom>
              <a:avLst/>
              <a:gdLst/>
              <a:ahLst/>
              <a:cxnLst/>
              <a:rect r="r" b="b" t="t" l="l"/>
              <a:pathLst>
                <a:path h="291468" w="520608">
                  <a:moveTo>
                    <a:pt x="0" y="0"/>
                  </a:moveTo>
                  <a:lnTo>
                    <a:pt x="520608" y="0"/>
                  </a:lnTo>
                  <a:lnTo>
                    <a:pt x="520608" y="291468"/>
                  </a:lnTo>
                  <a:lnTo>
                    <a:pt x="0" y="291468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47625"/>
              <a:ext cx="520608" cy="339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  <a:r>
                <a:rPr lang="en-US" sz="1878" b="true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PC - 3</a:t>
              </a:r>
            </a:p>
            <a:p>
              <a:pPr algn="ctr">
                <a:lnSpc>
                  <a:spcPts val="2630"/>
                </a:lnSpc>
              </a:pPr>
              <a:r>
                <a:rPr lang="en-US" b="true" sz="1878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Database Platform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-1509073">
            <a:off x="1420357" y="447695"/>
            <a:ext cx="2983128" cy="1710327"/>
          </a:xfrm>
          <a:custGeom>
            <a:avLst/>
            <a:gdLst/>
            <a:ahLst/>
            <a:cxnLst/>
            <a:rect r="r" b="b" t="t" l="l"/>
            <a:pathLst>
              <a:path h="1710327" w="2983128">
                <a:moveTo>
                  <a:pt x="0" y="0"/>
                </a:moveTo>
                <a:lnTo>
                  <a:pt x="2983128" y="0"/>
                </a:lnTo>
                <a:lnTo>
                  <a:pt x="2983128" y="1710326"/>
                </a:lnTo>
                <a:lnTo>
                  <a:pt x="0" y="17103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1480498" y="1861042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CONSTRAINTS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0712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79" id="79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014510" y="3439370"/>
            <a:ext cx="90963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TOOLS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5083975" y="3439370"/>
            <a:ext cx="1487612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LANGUAGE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151066" y="3420320"/>
            <a:ext cx="149557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PLATFORM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1191048" y="3439370"/>
            <a:ext cx="1554510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HARDWARE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4320295" y="3439370"/>
            <a:ext cx="1361256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  <a:spcBef>
                <a:spcPct val="0"/>
              </a:spcBef>
            </a:pPr>
            <a:r>
              <a:rPr lang="en-US" b="true" sz="2599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NETWORK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97958" y="-1090999"/>
            <a:ext cx="13892084" cy="3605084"/>
            <a:chOff x="0" y="0"/>
            <a:chExt cx="3658820" cy="94948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8820" cy="949487"/>
            </a:xfrm>
            <a:custGeom>
              <a:avLst/>
              <a:gdLst/>
              <a:ahLst/>
              <a:cxnLst/>
              <a:rect r="r" b="b" t="t" l="l"/>
              <a:pathLst>
                <a:path h="949487" w="3658820">
                  <a:moveTo>
                    <a:pt x="3420695" y="0"/>
                  </a:moveTo>
                  <a:lnTo>
                    <a:pt x="3658820" y="238125"/>
                  </a:lnTo>
                  <a:lnTo>
                    <a:pt x="3658820" y="711362"/>
                  </a:lnTo>
                  <a:lnTo>
                    <a:pt x="3420695" y="949487"/>
                  </a:lnTo>
                  <a:lnTo>
                    <a:pt x="238125" y="949487"/>
                  </a:lnTo>
                  <a:lnTo>
                    <a:pt x="0" y="711362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20695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531820" cy="8701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97958" y="9236876"/>
            <a:ext cx="13892084" cy="3283293"/>
            <a:chOff x="0" y="0"/>
            <a:chExt cx="3658820" cy="8647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58820" cy="864736"/>
            </a:xfrm>
            <a:custGeom>
              <a:avLst/>
              <a:gdLst/>
              <a:ahLst/>
              <a:cxnLst/>
              <a:rect r="r" b="b" t="t" l="l"/>
              <a:pathLst>
                <a:path h="864736" w="3658820">
                  <a:moveTo>
                    <a:pt x="3420695" y="0"/>
                  </a:moveTo>
                  <a:lnTo>
                    <a:pt x="3658820" y="238125"/>
                  </a:lnTo>
                  <a:lnTo>
                    <a:pt x="3658820" y="626611"/>
                  </a:lnTo>
                  <a:lnTo>
                    <a:pt x="3420695" y="864736"/>
                  </a:lnTo>
                  <a:lnTo>
                    <a:pt x="238125" y="864736"/>
                  </a:lnTo>
                  <a:lnTo>
                    <a:pt x="0" y="62661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20695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63500" y="15875"/>
              <a:ext cx="3531820" cy="785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174539" y="9818674"/>
            <a:ext cx="18637078" cy="898954"/>
            <a:chOff x="0" y="0"/>
            <a:chExt cx="4908531" cy="23676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908531" cy="236762"/>
            </a:xfrm>
            <a:custGeom>
              <a:avLst/>
              <a:gdLst/>
              <a:ahLst/>
              <a:cxnLst/>
              <a:rect r="r" b="b" t="t" l="l"/>
              <a:pathLst>
                <a:path h="236762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490853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4048684"/>
            <a:ext cx="16230600" cy="1612413"/>
            <a:chOff x="0" y="0"/>
            <a:chExt cx="4274726" cy="42466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424669"/>
            </a:xfrm>
            <a:custGeom>
              <a:avLst/>
              <a:gdLst/>
              <a:ahLst/>
              <a:cxnLst/>
              <a:rect r="r" b="b" t="t" l="l"/>
              <a:pathLst>
                <a:path h="424669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424669"/>
                  </a:lnTo>
                  <a:lnTo>
                    <a:pt x="0" y="424669"/>
                  </a:lnTo>
                  <a:close/>
                </a:path>
              </a:pathLst>
            </a:custGeom>
            <a:solidFill>
              <a:srgbClr val="08226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274726" cy="472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7" id="17"/>
          <p:cNvSpPr/>
          <p:nvPr/>
        </p:nvSpPr>
        <p:spPr>
          <a:xfrm rot="-5400000">
            <a:off x="-1058047" y="6135431"/>
            <a:ext cx="4230645" cy="0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8" id="18"/>
          <p:cNvSpPr/>
          <p:nvPr/>
        </p:nvSpPr>
        <p:spPr>
          <a:xfrm rot="-10800000">
            <a:off x="1028700" y="8222178"/>
            <a:ext cx="16230600" cy="0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4285492" y="3709516"/>
            <a:ext cx="9790233" cy="57150"/>
          </a:xfrm>
          <a:prstGeom prst="line">
            <a:avLst/>
          </a:prstGeom>
          <a:ln cap="flat" w="57150">
            <a:solidFill>
              <a:srgbClr val="1646C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0" id="20"/>
          <p:cNvSpPr/>
          <p:nvPr/>
        </p:nvSpPr>
        <p:spPr>
          <a:xfrm rot="-5400000">
            <a:off x="5139309" y="6941638"/>
            <a:ext cx="2618231" cy="0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rot="-5400000">
            <a:off x="5642218" y="4826315"/>
            <a:ext cx="1612413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rot="-5400000">
            <a:off x="11033368" y="4826315"/>
            <a:ext cx="1612413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rot="-5400000">
            <a:off x="10530459" y="6941638"/>
            <a:ext cx="2618231" cy="0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rot="-5400000">
            <a:off x="15115403" y="6135431"/>
            <a:ext cx="4230645" cy="0"/>
          </a:xfrm>
          <a:prstGeom prst="line">
            <a:avLst/>
          </a:prstGeom>
          <a:ln cap="flat" w="57150">
            <a:solidFill>
              <a:srgbClr val="08226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1480498" y="52387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EVOLUTIONARY REQUIREMENTS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220208" y="3205449"/>
            <a:ext cx="1065284" cy="106528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6C4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8611358" y="3205449"/>
            <a:ext cx="1065284" cy="1065284"/>
            <a:chOff x="0" y="0"/>
            <a:chExt cx="812800" cy="8128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6C4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4075725" y="3205449"/>
            <a:ext cx="1065284" cy="1065284"/>
            <a:chOff x="0" y="0"/>
            <a:chExt cx="812800" cy="812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646C4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310890" y="5927797"/>
            <a:ext cx="488392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shall support English and Spanish throughout the app.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02040" y="5927797"/>
            <a:ext cx="4883920" cy="184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shall allow doctors and patients to conduct video calls within the app.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91815" y="4709119"/>
            <a:ext cx="5175635" cy="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 spc="1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BILINGUAL SUPPORT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3461165" y="3317721"/>
            <a:ext cx="583371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9"/>
              </a:lnSpc>
            </a:pPr>
            <a:r>
              <a:rPr lang="en-US" b="true" sz="6199" spc="30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852315" y="3317721"/>
            <a:ext cx="583371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9"/>
              </a:lnSpc>
            </a:pPr>
            <a:r>
              <a:rPr lang="en-US" b="true" sz="6199" spc="30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16682" y="3317721"/>
            <a:ext cx="583371" cy="888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9"/>
              </a:lnSpc>
            </a:pPr>
            <a:r>
              <a:rPr lang="en-US" b="true" sz="6199" spc="30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74680" y="4709119"/>
            <a:ext cx="4883920" cy="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 spc="1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VIDEO CONSULTATION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096750" y="4709119"/>
            <a:ext cx="4883920" cy="44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00"/>
              </a:lnSpc>
            </a:pPr>
            <a:r>
              <a:rPr lang="en-US" b="true" sz="3000" spc="15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KICK COUNT TRACKING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96750" y="5927797"/>
            <a:ext cx="4883920" cy="1390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shall allow parents to manually log fetal kick counts.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2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45" id="45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9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3298" y="5602287"/>
            <a:ext cx="19174597" cy="1325262"/>
            <a:chOff x="0" y="0"/>
            <a:chExt cx="5050100" cy="349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0099" cy="349040"/>
            </a:xfrm>
            <a:custGeom>
              <a:avLst/>
              <a:gdLst/>
              <a:ahLst/>
              <a:cxnLst/>
              <a:rect r="r" b="b" t="t" l="l"/>
              <a:pathLst>
                <a:path h="349040" w="5050099">
                  <a:moveTo>
                    <a:pt x="0" y="0"/>
                  </a:moveTo>
                  <a:lnTo>
                    <a:pt x="5050099" y="0"/>
                  </a:lnTo>
                  <a:lnTo>
                    <a:pt x="5050099" y="349040"/>
                  </a:lnTo>
                  <a:lnTo>
                    <a:pt x="0" y="34904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0100" cy="396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708571" y="112437"/>
            <a:ext cx="14870858" cy="5489850"/>
          </a:xfrm>
          <a:custGeom>
            <a:avLst/>
            <a:gdLst/>
            <a:ahLst/>
            <a:cxnLst/>
            <a:rect r="r" b="b" t="t" l="l"/>
            <a:pathLst>
              <a:path h="5489850" w="14870858">
                <a:moveTo>
                  <a:pt x="0" y="0"/>
                </a:moveTo>
                <a:lnTo>
                  <a:pt x="14870858" y="0"/>
                </a:lnTo>
                <a:lnTo>
                  <a:pt x="14870858" y="5489850"/>
                </a:lnTo>
                <a:lnTo>
                  <a:pt x="0" y="54898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874393"/>
            <a:ext cx="1623060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6000" spc="3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UC-5: DEVICE PAIRING + MONITORING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241" y="7113614"/>
            <a:ext cx="13341589" cy="148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3201" spc="32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FR-10: Monitoring &amp; Data Classification</a:t>
            </a:r>
          </a:p>
          <a:p>
            <a:pPr algn="l">
              <a:lnSpc>
                <a:spcPts val="3841"/>
              </a:lnSpc>
            </a:pPr>
            <a:r>
              <a:rPr lang="en-US" sz="3201" spc="32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shall collect, process, classify, and store fetal heart rate, movement, and contraction data.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10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43298" y="5358456"/>
            <a:ext cx="19174597" cy="1325262"/>
            <a:chOff x="0" y="0"/>
            <a:chExt cx="5050100" cy="349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50099" cy="349040"/>
            </a:xfrm>
            <a:custGeom>
              <a:avLst/>
              <a:gdLst/>
              <a:ahLst/>
              <a:cxnLst/>
              <a:rect r="r" b="b" t="t" l="l"/>
              <a:pathLst>
                <a:path h="349040" w="5050099">
                  <a:moveTo>
                    <a:pt x="0" y="0"/>
                  </a:moveTo>
                  <a:lnTo>
                    <a:pt x="5050099" y="0"/>
                  </a:lnTo>
                  <a:lnTo>
                    <a:pt x="5050099" y="349040"/>
                  </a:lnTo>
                  <a:lnTo>
                    <a:pt x="0" y="34904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050100" cy="39666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1556048"/>
            <a:ext cx="18288000" cy="2745133"/>
          </a:xfrm>
          <a:custGeom>
            <a:avLst/>
            <a:gdLst/>
            <a:ahLst/>
            <a:cxnLst/>
            <a:rect r="r" b="b" t="t" l="l"/>
            <a:pathLst>
              <a:path h="2745133" w="18288000">
                <a:moveTo>
                  <a:pt x="0" y="0"/>
                </a:moveTo>
                <a:lnTo>
                  <a:pt x="18288000" y="0"/>
                </a:lnTo>
                <a:lnTo>
                  <a:pt x="18288000" y="2745133"/>
                </a:lnTo>
                <a:lnTo>
                  <a:pt x="0" y="27451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5630562"/>
            <a:ext cx="1571648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b="true" sz="6000" spc="30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UC-7: LABOR ALERTS + NOTIFICATIONS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0241" y="6869783"/>
            <a:ext cx="13341589" cy="1482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1"/>
              </a:lnSpc>
            </a:pPr>
            <a:r>
              <a:rPr lang="en-US" sz="3201" spc="32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FR-13: Labor Pattern Alert</a:t>
            </a:r>
          </a:p>
          <a:p>
            <a:pPr algn="l">
              <a:lnSpc>
                <a:spcPts val="3841"/>
              </a:lnSpc>
            </a:pPr>
            <a:r>
              <a:rPr lang="en-US" sz="3201" spc="32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The system shall notify patients when contraction intervals fall below predefined thresholds for a sustained duration.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066926"/>
            <a:ext cx="16230600" cy="5087639"/>
            <a:chOff x="0" y="0"/>
            <a:chExt cx="4274726" cy="1339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339954"/>
            </a:xfrm>
            <a:custGeom>
              <a:avLst/>
              <a:gdLst/>
              <a:ahLst/>
              <a:cxnLst/>
              <a:rect r="r" b="b" t="t" l="l"/>
              <a:pathLst>
                <a:path h="1339954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1101829"/>
                  </a:lnTo>
                  <a:lnTo>
                    <a:pt x="4036601" y="1339954"/>
                  </a:lnTo>
                  <a:lnTo>
                    <a:pt x="238125" y="1339954"/>
                  </a:lnTo>
                  <a:lnTo>
                    <a:pt x="0" y="110182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4147726" cy="126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58866" y="3001663"/>
            <a:ext cx="13570269" cy="6988689"/>
          </a:xfrm>
          <a:custGeom>
            <a:avLst/>
            <a:gdLst/>
            <a:ahLst/>
            <a:cxnLst/>
            <a:rect r="r" b="b" t="t" l="l"/>
            <a:pathLst>
              <a:path h="6988689" w="13570269">
                <a:moveTo>
                  <a:pt x="0" y="0"/>
                </a:moveTo>
                <a:lnTo>
                  <a:pt x="13570268" y="0"/>
                </a:lnTo>
                <a:lnTo>
                  <a:pt x="13570268" y="6988689"/>
                </a:lnTo>
                <a:lnTo>
                  <a:pt x="0" y="69886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0498" y="33839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12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43274" y="9886121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0498" y="1990315"/>
            <a:ext cx="15327005" cy="89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6400" spc="32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CLASS ASSOCIATION DIAGRAM 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2066926"/>
            <a:ext cx="16230600" cy="5087639"/>
            <a:chOff x="0" y="0"/>
            <a:chExt cx="4274726" cy="133995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74726" cy="1339954"/>
            </a:xfrm>
            <a:custGeom>
              <a:avLst/>
              <a:gdLst/>
              <a:ahLst/>
              <a:cxnLst/>
              <a:rect r="r" b="b" t="t" l="l"/>
              <a:pathLst>
                <a:path h="1339954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1101829"/>
                  </a:lnTo>
                  <a:lnTo>
                    <a:pt x="4036601" y="1339954"/>
                  </a:lnTo>
                  <a:lnTo>
                    <a:pt x="238125" y="1339954"/>
                  </a:lnTo>
                  <a:lnTo>
                    <a:pt x="0" y="110182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4147726" cy="126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5624233" y="3477913"/>
          <a:ext cx="5167698" cy="4895850"/>
        </p:xfrm>
        <a:graphic>
          <a:graphicData uri="http://schemas.openxmlformats.org/drawingml/2006/table">
            <a:tbl>
              <a:tblPr/>
              <a:tblGrid>
                <a:gridCol w="4781691"/>
              </a:tblGrid>
              <a:tr h="8351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8" b="true">
                          <a:solidFill>
                            <a:srgbClr val="000000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CD-1: User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63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30"/>
                        </a:lnSpc>
                        <a:defRPr/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userID: String</a:t>
                      </a:r>
                      <a:endParaRPr lang="en-US" sz="1100"/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name: String</a:t>
                      </a:r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email: String</a:t>
                      </a:r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passwordHash: String</a:t>
                      </a:r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role: UserRole</a:t>
                      </a:r>
                    </a:p>
                  </a:txBody>
                  <a:tcPr marL="142875" marR="142875" marT="142875" marB="1428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7435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190"/>
                        </a:lnSpc>
                        <a:defRPr/>
                      </a:pPr>
                      <a:r>
                        <a:rPr lang="en-US" sz="22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+ register()</a:t>
                      </a:r>
                      <a:endParaRPr lang="en-US" sz="1100"/>
                    </a:p>
                    <a:p>
                      <a:pPr algn="l">
                        <a:lnSpc>
                          <a:spcPts val="3190"/>
                        </a:lnSpc>
                      </a:pPr>
                      <a:r>
                        <a:rPr lang="en-US" sz="22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+ login()</a:t>
                      </a:r>
                    </a:p>
                    <a:p>
                      <a:pPr algn="l">
                        <a:lnSpc>
                          <a:spcPts val="3190"/>
                        </a:lnSpc>
                      </a:pPr>
                      <a:r>
                        <a:rPr lang="en-US" sz="22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+ verify()</a:t>
                      </a:r>
                    </a:p>
                  </a:txBody>
                  <a:tcPr marL="142875" marR="142875" marT="142875" marB="1428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9" id="9"/>
          <p:cNvSpPr txBox="true"/>
          <p:nvPr/>
        </p:nvSpPr>
        <p:spPr>
          <a:xfrm rot="0">
            <a:off x="1480498" y="33839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120" y="8866946"/>
            <a:ext cx="1982403" cy="1000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2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2799" y="950983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0498" y="1990315"/>
            <a:ext cx="15327005" cy="89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6400" spc="32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DETAILED CLASS DIAGRAMS</a:t>
            </a:r>
          </a:p>
        </p:txBody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1205328" y="3468703"/>
          <a:ext cx="5167698" cy="4905060"/>
        </p:xfrm>
        <a:graphic>
          <a:graphicData uri="http://schemas.openxmlformats.org/drawingml/2006/table">
            <a:tbl>
              <a:tblPr/>
              <a:tblGrid>
                <a:gridCol w="4781691"/>
              </a:tblGrid>
              <a:tr h="8412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10"/>
                        </a:lnSpc>
                        <a:defRPr/>
                      </a:pPr>
                      <a:r>
                        <a:rPr lang="en-US" sz="2578" b="true">
                          <a:solidFill>
                            <a:srgbClr val="000000"/>
                          </a:solidFill>
                          <a:latin typeface="Roboto Condensed Bold"/>
                          <a:ea typeface="Roboto Condensed Bold"/>
                          <a:cs typeface="Roboto Condensed Bold"/>
                          <a:sym typeface="Roboto Condensed Bold"/>
                        </a:rPr>
                        <a:t>CD-8: MonitoringSession</a:t>
                      </a:r>
                      <a:endParaRPr lang="en-US" sz="1100"/>
                    </a:p>
                  </a:txBody>
                  <a:tcPr marL="142875" marR="142875" marT="142875" marB="1428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2225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30"/>
                        </a:lnSpc>
                        <a:defRPr/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sessionID: String</a:t>
                      </a:r>
                      <a:endParaRPr lang="en-US" sz="1100"/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startTime: DateTime</a:t>
                      </a:r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endTime: DateTime</a:t>
                      </a:r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- status: SessionStatus</a:t>
                      </a:r>
                    </a:p>
                  </a:txBody>
                  <a:tcPr marL="142875" marR="142875" marT="142875" marB="1428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4152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30"/>
                        </a:lnSpc>
                        <a:defRPr/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+ startSession()</a:t>
                      </a:r>
                      <a:endParaRPr lang="en-US" sz="1100"/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+ endSession()</a:t>
                      </a:r>
                    </a:p>
                    <a:p>
                      <a:pPr algn="l">
                        <a:lnSpc>
                          <a:spcPts val="3330"/>
                        </a:lnSpc>
                      </a:pPr>
                      <a:r>
                        <a:rPr lang="en-US" sz="2378">
                          <a:solidFill>
                            <a:srgbClr val="000000"/>
                          </a:solidFill>
                          <a:latin typeface="Roboto Condensed"/>
                          <a:ea typeface="Roboto Condensed"/>
                          <a:cs typeface="Roboto Condensed"/>
                          <a:sym typeface="Roboto Condensed"/>
                        </a:rPr>
                        <a:t>+ uploadBufferedData()</a:t>
                      </a:r>
                    </a:p>
                  </a:txBody>
                  <a:tcPr marL="142875" marR="142875" marT="142875" marB="142875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2020509" y="3477913"/>
            <a:ext cx="3194149" cy="4895850"/>
            <a:chOff x="0" y="0"/>
            <a:chExt cx="841257" cy="128944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41257" cy="1289442"/>
            </a:xfrm>
            <a:custGeom>
              <a:avLst/>
              <a:gdLst/>
              <a:ahLst/>
              <a:cxnLst/>
              <a:rect r="r" b="b" t="t" l="l"/>
              <a:pathLst>
                <a:path h="1289442" w="841257">
                  <a:moveTo>
                    <a:pt x="0" y="0"/>
                  </a:moveTo>
                  <a:lnTo>
                    <a:pt x="841257" y="0"/>
                  </a:lnTo>
                  <a:lnTo>
                    <a:pt x="841257" y="1289442"/>
                  </a:lnTo>
                  <a:lnTo>
                    <a:pt x="0" y="128944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841257" cy="13370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0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2437786" y="4264728"/>
            <a:ext cx="2397100" cy="3667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b="true" sz="187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CD-1:</a:t>
            </a:r>
            <a:r>
              <a:rPr lang="en-US" b="true" sz="187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 User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CD-2: ExpectingParent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CD-3: HealthcareProvider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CD-4: HospitalAdmin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CD-5: Hospital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CD-6: WearableDevice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CD-7: DeviceRequest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b="true" sz="1878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CD-8: MonitoringSession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CD-9: SensorReading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CD-10: Alert</a:t>
            </a:r>
          </a:p>
          <a:p>
            <a:pPr algn="just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CD-11: Message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328323" y="3747731"/>
            <a:ext cx="2578522" cy="3897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0"/>
              </a:lnSpc>
              <a:spcBef>
                <a:spcPct val="0"/>
              </a:spcBef>
            </a:pPr>
            <a:r>
              <a:rPr lang="en-US" sz="22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List of Class Diagrams</a:t>
            </a:r>
          </a:p>
        </p:txBody>
      </p:sp>
    </p:spTree>
  </p:cSld>
  <p:clrMapOvr>
    <a:masterClrMapping/>
  </p:clrMapOvr>
  <p:transition spd="slow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25955" y="2760004"/>
            <a:ext cx="13436090" cy="6771346"/>
          </a:xfrm>
          <a:custGeom>
            <a:avLst/>
            <a:gdLst/>
            <a:ahLst/>
            <a:cxnLst/>
            <a:rect r="r" b="b" t="t" l="l"/>
            <a:pathLst>
              <a:path h="6771346" w="13436090">
                <a:moveTo>
                  <a:pt x="0" y="0"/>
                </a:moveTo>
                <a:lnTo>
                  <a:pt x="13436090" y="0"/>
                </a:lnTo>
                <a:lnTo>
                  <a:pt x="13436090" y="6771346"/>
                </a:lnTo>
                <a:lnTo>
                  <a:pt x="0" y="67713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68" r="0" b="-56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-2129758"/>
            <a:ext cx="16230600" cy="5087639"/>
            <a:chOff x="0" y="0"/>
            <a:chExt cx="4274726" cy="133995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4726" cy="1339954"/>
            </a:xfrm>
            <a:custGeom>
              <a:avLst/>
              <a:gdLst/>
              <a:ahLst/>
              <a:cxnLst/>
              <a:rect r="r" b="b" t="t" l="l"/>
              <a:pathLst>
                <a:path h="1339954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1101829"/>
                  </a:lnTo>
                  <a:lnTo>
                    <a:pt x="4036601" y="1339954"/>
                  </a:lnTo>
                  <a:lnTo>
                    <a:pt x="238125" y="1339954"/>
                  </a:lnTo>
                  <a:lnTo>
                    <a:pt x="0" y="110182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63500" y="15875"/>
              <a:ext cx="4147726" cy="12605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480498" y="33839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MODEL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712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0498" y="1914496"/>
            <a:ext cx="15327005" cy="8934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0"/>
              </a:lnSpc>
            </a:pPr>
            <a:r>
              <a:rPr lang="en-US" sz="6400" spc="32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SEQUENCE DIAGRAM</a:t>
            </a:r>
          </a:p>
        </p:txBody>
      </p:sp>
    </p:spTree>
  </p:cSld>
  <p:clrMapOvr>
    <a:masterClrMapping/>
  </p:clrMapOvr>
  <p:transition spd="slow">
    <p:push dir="l"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728382" y="1849829"/>
            <a:ext cx="10264595" cy="7353740"/>
          </a:xfrm>
          <a:custGeom>
            <a:avLst/>
            <a:gdLst/>
            <a:ahLst/>
            <a:cxnLst/>
            <a:rect r="r" b="b" t="t" l="l"/>
            <a:pathLst>
              <a:path h="7353740" w="10264595">
                <a:moveTo>
                  <a:pt x="0" y="0"/>
                </a:moveTo>
                <a:lnTo>
                  <a:pt x="10264595" y="0"/>
                </a:lnTo>
                <a:lnTo>
                  <a:pt x="10264595" y="7353740"/>
                </a:lnTo>
                <a:lnTo>
                  <a:pt x="0" y="7353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151" t="-3831" r="-4420" b="-7302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0498" y="33839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SYSTEM ARCHITECTURE DESIGN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712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160532"/>
            <a:ext cx="16230600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467999" y="3889507"/>
            <a:ext cx="5332151" cy="3274385"/>
            <a:chOff x="0" y="0"/>
            <a:chExt cx="4274726" cy="262503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2625038"/>
            </a:xfrm>
            <a:custGeom>
              <a:avLst/>
              <a:gdLst/>
              <a:ahLst/>
              <a:cxnLst/>
              <a:rect r="r" b="b" t="t" l="l"/>
              <a:pathLst>
                <a:path h="2625038" w="4274726">
                  <a:moveTo>
                    <a:pt x="4036601" y="0"/>
                  </a:moveTo>
                  <a:lnTo>
                    <a:pt x="4274726" y="238125"/>
                  </a:lnTo>
                  <a:lnTo>
                    <a:pt x="4274726" y="2386913"/>
                  </a:lnTo>
                  <a:lnTo>
                    <a:pt x="4036601" y="2625038"/>
                  </a:lnTo>
                  <a:lnTo>
                    <a:pt x="238125" y="2625038"/>
                  </a:lnTo>
                  <a:lnTo>
                    <a:pt x="0" y="238691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4036601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5875"/>
              <a:ext cx="4147726" cy="25456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12507" y="4517049"/>
            <a:ext cx="5043135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80"/>
              </a:lnSpc>
            </a:pPr>
            <a:r>
              <a:rPr lang="en-US" b="true" sz="4400" spc="22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THREE-TIER LAYERED ARCHITECTURE</a:t>
            </a:r>
          </a:p>
        </p:txBody>
      </p:sp>
    </p:spTree>
  </p:cSld>
  <p:clrMapOvr>
    <a:masterClrMapping/>
  </p:clrMapOvr>
  <p:transition spd="slow">
    <p:push dir="l"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50574" y="-993491"/>
            <a:ext cx="12186851" cy="4653290"/>
            <a:chOff x="0" y="0"/>
            <a:chExt cx="3209706" cy="12255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209706" cy="1225558"/>
            </a:xfrm>
            <a:custGeom>
              <a:avLst/>
              <a:gdLst/>
              <a:ahLst/>
              <a:cxnLst/>
              <a:rect r="r" b="b" t="t" l="l"/>
              <a:pathLst>
                <a:path h="1225558" w="3209706">
                  <a:moveTo>
                    <a:pt x="2971581" y="0"/>
                  </a:moveTo>
                  <a:lnTo>
                    <a:pt x="3209706" y="238125"/>
                  </a:lnTo>
                  <a:lnTo>
                    <a:pt x="3209706" y="987433"/>
                  </a:lnTo>
                  <a:lnTo>
                    <a:pt x="2971581" y="1225558"/>
                  </a:lnTo>
                  <a:lnTo>
                    <a:pt x="238125" y="1225558"/>
                  </a:lnTo>
                  <a:lnTo>
                    <a:pt x="0" y="987433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2971581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082706" cy="11461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3954018"/>
            <a:ext cx="7608574" cy="5166861"/>
          </a:xfrm>
          <a:custGeom>
            <a:avLst/>
            <a:gdLst/>
            <a:ahLst/>
            <a:cxnLst/>
            <a:rect r="r" b="b" t="t" l="l"/>
            <a:pathLst>
              <a:path h="5166861" w="7608574">
                <a:moveTo>
                  <a:pt x="0" y="0"/>
                </a:moveTo>
                <a:lnTo>
                  <a:pt x="7608574" y="0"/>
                </a:lnTo>
                <a:lnTo>
                  <a:pt x="7608574" y="5166861"/>
                </a:lnTo>
                <a:lnTo>
                  <a:pt x="0" y="516686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10" t="-93896" r="0" b="-28557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480498" y="216217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DESIGN PATTERN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39497" y="4014276"/>
            <a:ext cx="705512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b="true" sz="5000" spc="250">
                <a:solidFill>
                  <a:srgbClr val="082266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OBSERVER PATTERN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57788" y="4985826"/>
            <a:ext cx="7949714" cy="3928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Sensor data (belly band)</a:t>
            </a: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acts as the </a:t>
            </a: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Subject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Parent dashboard, provider dashboard, and labor alert system act as </a:t>
            </a:r>
            <a:r>
              <a:rPr lang="en-US" b="true" sz="3200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Observers</a:t>
            </a:r>
          </a:p>
          <a:p>
            <a:pPr algn="l" marL="690881" indent="-345440" lvl="1">
              <a:lnSpc>
                <a:spcPts val="448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When the backend writes new sensor data, all three Observers are notified and updated automatically,  no manual polling required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4225" y="-961253"/>
            <a:ext cx="13530134" cy="3475338"/>
            <a:chOff x="0" y="0"/>
            <a:chExt cx="3563492" cy="915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63492" cy="915315"/>
            </a:xfrm>
            <a:custGeom>
              <a:avLst/>
              <a:gdLst/>
              <a:ahLst/>
              <a:cxnLst/>
              <a:rect r="r" b="b" t="t" l="l"/>
              <a:pathLst>
                <a:path h="915315" w="3563492">
                  <a:moveTo>
                    <a:pt x="3325367" y="0"/>
                  </a:moveTo>
                  <a:lnTo>
                    <a:pt x="3563492" y="238125"/>
                  </a:lnTo>
                  <a:lnTo>
                    <a:pt x="3563492" y="677190"/>
                  </a:lnTo>
                  <a:lnTo>
                    <a:pt x="3325367" y="915315"/>
                  </a:lnTo>
                  <a:lnTo>
                    <a:pt x="238125" y="915315"/>
                  </a:lnTo>
                  <a:lnTo>
                    <a:pt x="0" y="6771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325367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436492" cy="83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8665" y="-382030"/>
            <a:ext cx="14030295" cy="1158446"/>
            <a:chOff x="0" y="0"/>
            <a:chExt cx="3695222" cy="305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95222" cy="305105"/>
            </a:xfrm>
            <a:custGeom>
              <a:avLst/>
              <a:gdLst/>
              <a:ahLst/>
              <a:cxnLst/>
              <a:rect r="r" b="b" t="t" l="l"/>
              <a:pathLst>
                <a:path h="305105" w="3695222">
                  <a:moveTo>
                    <a:pt x="0" y="0"/>
                  </a:moveTo>
                  <a:lnTo>
                    <a:pt x="3695222" y="0"/>
                  </a:lnTo>
                  <a:lnTo>
                    <a:pt x="3695222" y="305105"/>
                  </a:lnTo>
                  <a:lnTo>
                    <a:pt x="0" y="305105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695222" cy="352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86946" y="9843622"/>
            <a:ext cx="13414804" cy="1007076"/>
            <a:chOff x="0" y="0"/>
            <a:chExt cx="3533117" cy="265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33117" cy="265238"/>
            </a:xfrm>
            <a:custGeom>
              <a:avLst/>
              <a:gdLst/>
              <a:ahLst/>
              <a:cxnLst/>
              <a:rect r="r" b="b" t="t" l="l"/>
              <a:pathLst>
                <a:path h="265238" w="3533117">
                  <a:moveTo>
                    <a:pt x="0" y="0"/>
                  </a:moveTo>
                  <a:lnTo>
                    <a:pt x="3533117" y="0"/>
                  </a:lnTo>
                  <a:lnTo>
                    <a:pt x="3533117" y="265238"/>
                  </a:lnTo>
                  <a:lnTo>
                    <a:pt x="0" y="265238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533117" cy="31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34207" y="-1837038"/>
            <a:ext cx="6753793" cy="3475338"/>
            <a:chOff x="0" y="0"/>
            <a:chExt cx="1778777" cy="9153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8777" cy="915315"/>
            </a:xfrm>
            <a:custGeom>
              <a:avLst/>
              <a:gdLst/>
              <a:ahLst/>
              <a:cxnLst/>
              <a:rect r="r" b="b" t="t" l="l"/>
              <a:pathLst>
                <a:path h="915315" w="1778777">
                  <a:moveTo>
                    <a:pt x="1540652" y="0"/>
                  </a:moveTo>
                  <a:lnTo>
                    <a:pt x="1778777" y="238125"/>
                  </a:lnTo>
                  <a:lnTo>
                    <a:pt x="1778777" y="677190"/>
                  </a:lnTo>
                  <a:lnTo>
                    <a:pt x="1540652" y="915315"/>
                  </a:lnTo>
                  <a:lnTo>
                    <a:pt x="238125" y="915315"/>
                  </a:lnTo>
                  <a:lnTo>
                    <a:pt x="0" y="6771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40652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5875"/>
              <a:ext cx="1651777" cy="83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32583" y="8949830"/>
            <a:ext cx="6803939" cy="2851811"/>
            <a:chOff x="0" y="0"/>
            <a:chExt cx="1791984" cy="7510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1984" cy="751094"/>
            </a:xfrm>
            <a:custGeom>
              <a:avLst/>
              <a:gdLst/>
              <a:ahLst/>
              <a:cxnLst/>
              <a:rect r="r" b="b" t="t" l="l"/>
              <a:pathLst>
                <a:path h="751094" w="1791984">
                  <a:moveTo>
                    <a:pt x="1553859" y="0"/>
                  </a:moveTo>
                  <a:lnTo>
                    <a:pt x="1791984" y="238125"/>
                  </a:lnTo>
                  <a:lnTo>
                    <a:pt x="1791984" y="512969"/>
                  </a:lnTo>
                  <a:lnTo>
                    <a:pt x="1553859" y="751094"/>
                  </a:lnTo>
                  <a:lnTo>
                    <a:pt x="238125" y="751094"/>
                  </a:lnTo>
                  <a:lnTo>
                    <a:pt x="0" y="51296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53859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15875"/>
              <a:ext cx="1664984" cy="671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383125" y="5466769"/>
            <a:ext cx="3115447" cy="4395903"/>
            <a:chOff x="0" y="0"/>
            <a:chExt cx="820529" cy="11577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0529" cy="1157769"/>
            </a:xfrm>
            <a:custGeom>
              <a:avLst/>
              <a:gdLst/>
              <a:ahLst/>
              <a:cxnLst/>
              <a:rect r="r" b="b" t="t" l="l"/>
              <a:pathLst>
                <a:path h="1157769" w="820529">
                  <a:moveTo>
                    <a:pt x="582404" y="0"/>
                  </a:moveTo>
                  <a:lnTo>
                    <a:pt x="820529" y="238125"/>
                  </a:lnTo>
                  <a:lnTo>
                    <a:pt x="820529" y="919644"/>
                  </a:lnTo>
                  <a:lnTo>
                    <a:pt x="582404" y="1157769"/>
                  </a:lnTo>
                  <a:lnTo>
                    <a:pt x="238125" y="1157769"/>
                  </a:lnTo>
                  <a:lnTo>
                    <a:pt x="0" y="91964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82404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15875"/>
              <a:ext cx="693529" cy="107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33995" t="13813" r="34213" b="721"/>
          <a:stretch>
            <a:fillRect/>
          </a:stretch>
        </p:blipFill>
        <p:spPr>
          <a:xfrm flipH="false" flipV="false" rot="0">
            <a:off x="10788576" y="282918"/>
            <a:ext cx="6102843" cy="9646429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650497" y="1233736"/>
            <a:ext cx="11437208" cy="97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2"/>
              </a:lnSpc>
            </a:pPr>
            <a:r>
              <a:rPr lang="en-US" sz="7059" spc="35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MOCKUP INTERFACE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17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0214" y="3234260"/>
            <a:ext cx="7737217" cy="346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49831" indent="-424915" lvl="1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User account registration and login</a:t>
            </a:r>
          </a:p>
          <a:p>
            <a:pPr algn="just" marL="849831" indent="-424915" lvl="1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Pregnancy profile setup</a:t>
            </a:r>
          </a:p>
          <a:p>
            <a:pPr algn="just" marL="849831" indent="-424915" lvl="1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Real-time monitoring dashboard</a:t>
            </a:r>
          </a:p>
          <a:p>
            <a:pPr algn="just" marL="849831" indent="-424915" lvl="1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Labor alert notification</a:t>
            </a:r>
          </a:p>
          <a:p>
            <a:pPr algn="just" marL="849831" indent="-424915" lvl="1">
              <a:lnSpc>
                <a:spcPts val="5510"/>
              </a:lnSpc>
              <a:buFont typeface="Arial"/>
              <a:buChar char="•"/>
            </a:pPr>
            <a:r>
              <a:rPr lang="en-US" sz="3936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Patient–provider messaging</a:t>
            </a:r>
          </a:p>
        </p:txBody>
      </p:sp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4624" y="-1099096"/>
            <a:ext cx="13892084" cy="4255593"/>
            <a:chOff x="0" y="0"/>
            <a:chExt cx="3658820" cy="11208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8820" cy="1120815"/>
            </a:xfrm>
            <a:custGeom>
              <a:avLst/>
              <a:gdLst/>
              <a:ahLst/>
              <a:cxnLst/>
              <a:rect r="r" b="b" t="t" l="l"/>
              <a:pathLst>
                <a:path h="1120815" w="3658820">
                  <a:moveTo>
                    <a:pt x="3420695" y="0"/>
                  </a:moveTo>
                  <a:lnTo>
                    <a:pt x="3658820" y="238125"/>
                  </a:lnTo>
                  <a:lnTo>
                    <a:pt x="3658820" y="882690"/>
                  </a:lnTo>
                  <a:lnTo>
                    <a:pt x="3420695" y="1120815"/>
                  </a:lnTo>
                  <a:lnTo>
                    <a:pt x="238125" y="1120815"/>
                  </a:lnTo>
                  <a:lnTo>
                    <a:pt x="0" y="8826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20695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531820" cy="104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434626" y="8578839"/>
            <a:ext cx="3418748" cy="1239834"/>
            <a:chOff x="0" y="0"/>
            <a:chExt cx="1961079" cy="711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961079" cy="711200"/>
            </a:xfrm>
            <a:custGeom>
              <a:avLst/>
              <a:gdLst/>
              <a:ahLst/>
              <a:cxnLst/>
              <a:rect r="r" b="b" t="t" l="l"/>
              <a:pathLst>
                <a:path h="711200" w="1961079">
                  <a:moveTo>
                    <a:pt x="980540" y="0"/>
                  </a:moveTo>
                  <a:lnTo>
                    <a:pt x="1961079" y="711200"/>
                  </a:lnTo>
                  <a:lnTo>
                    <a:pt x="0" y="711200"/>
                  </a:lnTo>
                  <a:lnTo>
                    <a:pt x="980540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306419" y="282575"/>
              <a:ext cx="1348242" cy="3778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197958" y="9236876"/>
            <a:ext cx="13892084" cy="3283293"/>
            <a:chOff x="0" y="0"/>
            <a:chExt cx="3658820" cy="864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58820" cy="864736"/>
            </a:xfrm>
            <a:custGeom>
              <a:avLst/>
              <a:gdLst/>
              <a:ahLst/>
              <a:cxnLst/>
              <a:rect r="r" b="b" t="t" l="l"/>
              <a:pathLst>
                <a:path h="864736" w="3658820">
                  <a:moveTo>
                    <a:pt x="3420695" y="0"/>
                  </a:moveTo>
                  <a:lnTo>
                    <a:pt x="3658820" y="238125"/>
                  </a:lnTo>
                  <a:lnTo>
                    <a:pt x="3658820" y="626611"/>
                  </a:lnTo>
                  <a:lnTo>
                    <a:pt x="3420695" y="864736"/>
                  </a:lnTo>
                  <a:lnTo>
                    <a:pt x="238125" y="864736"/>
                  </a:lnTo>
                  <a:lnTo>
                    <a:pt x="0" y="626611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20695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5875"/>
              <a:ext cx="3531820" cy="7853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174539" y="9818674"/>
            <a:ext cx="18637078" cy="898954"/>
            <a:chOff x="0" y="0"/>
            <a:chExt cx="4908531" cy="23676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08531" cy="236762"/>
            </a:xfrm>
            <a:custGeom>
              <a:avLst/>
              <a:gdLst/>
              <a:ahLst/>
              <a:cxnLst/>
              <a:rect r="r" b="b" t="t" l="l"/>
              <a:pathLst>
                <a:path h="236762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236762"/>
                  </a:lnTo>
                  <a:lnTo>
                    <a:pt x="0" y="236762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4908531" cy="2843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76981" y="3406470"/>
            <a:ext cx="7086298" cy="1176981"/>
            <a:chOff x="0" y="0"/>
            <a:chExt cx="9448398" cy="1569308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9448398" cy="1569308"/>
              <a:chOff x="0" y="0"/>
              <a:chExt cx="1866350" cy="309987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866350" cy="309987"/>
              </a:xfrm>
              <a:custGeom>
                <a:avLst/>
                <a:gdLst/>
                <a:ahLst/>
                <a:cxnLst/>
                <a:rect r="r" b="b" t="t" l="l"/>
                <a:pathLst>
                  <a:path h="309987" w="1866350">
                    <a:moveTo>
                      <a:pt x="55718" y="0"/>
                    </a:moveTo>
                    <a:lnTo>
                      <a:pt x="1810632" y="0"/>
                    </a:lnTo>
                    <a:cubicBezTo>
                      <a:pt x="1825409" y="0"/>
                      <a:pt x="1839581" y="5870"/>
                      <a:pt x="1850031" y="16320"/>
                    </a:cubicBezTo>
                    <a:cubicBezTo>
                      <a:pt x="1860480" y="26769"/>
                      <a:pt x="1866350" y="40941"/>
                      <a:pt x="1866350" y="55718"/>
                    </a:cubicBezTo>
                    <a:lnTo>
                      <a:pt x="1866350" y="254268"/>
                    </a:lnTo>
                    <a:cubicBezTo>
                      <a:pt x="1866350" y="285041"/>
                      <a:pt x="1841404" y="309987"/>
                      <a:pt x="1810632" y="309987"/>
                    </a:cubicBezTo>
                    <a:lnTo>
                      <a:pt x="55718" y="309987"/>
                    </a:lnTo>
                    <a:cubicBezTo>
                      <a:pt x="24946" y="309987"/>
                      <a:pt x="0" y="285041"/>
                      <a:pt x="0" y="254268"/>
                    </a:cubicBezTo>
                    <a:lnTo>
                      <a:pt x="0" y="55718"/>
                    </a:lnTo>
                    <a:cubicBezTo>
                      <a:pt x="0" y="24946"/>
                      <a:pt x="24946" y="0"/>
                      <a:pt x="55718" y="0"/>
                    </a:cubicBezTo>
                    <a:close/>
                  </a:path>
                </a:pathLst>
              </a:custGeom>
              <a:solidFill>
                <a:srgbClr val="1D419F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1866350" cy="35761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396238" y="411062"/>
              <a:ext cx="8655923" cy="7757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400"/>
                </a:lnSpc>
              </a:pPr>
              <a:r>
                <a:rPr lang="en-US" b="true" sz="4000">
                  <a:solidFill>
                    <a:srgbClr val="FFFFFF"/>
                  </a:solidFill>
                  <a:latin typeface="Roboto Condensed Bold"/>
                  <a:ea typeface="Roboto Condensed Bold"/>
                  <a:cs typeface="Roboto Condensed Bold"/>
                  <a:sym typeface="Roboto Condensed Bold"/>
                </a:rPr>
                <a:t>SYSTEM SUMMARY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853374" y="3994961"/>
            <a:ext cx="6019052" cy="4155216"/>
            <a:chOff x="0" y="0"/>
            <a:chExt cx="9198313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198313" cy="6350000"/>
            </a:xfrm>
            <a:custGeom>
              <a:avLst/>
              <a:gdLst/>
              <a:ahLst/>
              <a:cxnLst/>
              <a:rect r="r" b="b" t="t" l="l"/>
              <a:pathLst>
                <a:path h="6350000" w="9198313">
                  <a:moveTo>
                    <a:pt x="1324610" y="0"/>
                  </a:moveTo>
                  <a:lnTo>
                    <a:pt x="0" y="0"/>
                  </a:lnTo>
                  <a:lnTo>
                    <a:pt x="0" y="5025390"/>
                  </a:lnTo>
                  <a:lnTo>
                    <a:pt x="1324610" y="6350000"/>
                  </a:lnTo>
                  <a:lnTo>
                    <a:pt x="9198313" y="6350000"/>
                  </a:lnTo>
                  <a:lnTo>
                    <a:pt x="9198313" y="0"/>
                  </a:lnTo>
                  <a:lnTo>
                    <a:pt x="1324610" y="0"/>
                  </a:lnTo>
                  <a:close/>
                </a:path>
              </a:pathLst>
            </a:custGeom>
            <a:solidFill>
              <a:srgbClr val="08226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677163" y="193009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CONCLUSION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2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18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2481561" y="4691236"/>
            <a:ext cx="2762678" cy="2762667"/>
            <a:chOff x="0" y="0"/>
            <a:chExt cx="6350000" cy="634997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60508" t="-61056" r="-61329" b="-60782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826868" y="4821577"/>
            <a:ext cx="8838971" cy="320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70944" indent="-285472" lvl="1">
              <a:lnSpc>
                <a:spcPts val="3173"/>
              </a:lnSpc>
              <a:buFont typeface="Arial"/>
              <a:buChar char="•"/>
            </a:pPr>
            <a:r>
              <a:rPr lang="en-US" sz="2644" spc="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Secure, cloud-based maternal monitoring platform</a:t>
            </a:r>
          </a:p>
          <a:p>
            <a:pPr algn="l" marL="570944" indent="-285472" lvl="1">
              <a:lnSpc>
                <a:spcPts val="3173"/>
              </a:lnSpc>
              <a:buFont typeface="Arial"/>
              <a:buChar char="•"/>
            </a:pPr>
            <a:r>
              <a:rPr lang="en-US" sz="2644" spc="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Integrated wearable device, mobile application, and provider dashboard</a:t>
            </a:r>
          </a:p>
          <a:p>
            <a:pPr algn="l" marL="570944" indent="-285472" lvl="1">
              <a:lnSpc>
                <a:spcPts val="3173"/>
              </a:lnSpc>
              <a:buFont typeface="Arial"/>
              <a:buChar char="•"/>
            </a:pPr>
            <a:r>
              <a:rPr lang="en-US" sz="2644" spc="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HIPAA-aware architecture with encrypted data handling</a:t>
            </a:r>
          </a:p>
          <a:p>
            <a:pPr algn="l" marL="570944" indent="-285472" lvl="1">
              <a:lnSpc>
                <a:spcPts val="3173"/>
              </a:lnSpc>
              <a:buFont typeface="Arial"/>
              <a:buChar char="•"/>
            </a:pPr>
            <a:r>
              <a:rPr lang="en-US" sz="2644" spc="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Real-time monitoring, alerts, and care coordination</a:t>
            </a:r>
          </a:p>
          <a:p>
            <a:pPr algn="l" marL="570944" indent="-285472" lvl="1">
              <a:lnSpc>
                <a:spcPts val="3173"/>
              </a:lnSpc>
              <a:buFont typeface="Arial"/>
              <a:buChar char="•"/>
            </a:pPr>
            <a:r>
              <a:rPr lang="en-US" sz="2644" spc="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Designed for scalability and future clinical expansion</a:t>
            </a:r>
          </a:p>
          <a:p>
            <a:pPr algn="l">
              <a:lnSpc>
                <a:spcPts val="3173"/>
              </a:lnSpc>
            </a:p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64225" y="-961253"/>
            <a:ext cx="13530134" cy="3475338"/>
            <a:chOff x="0" y="0"/>
            <a:chExt cx="3563492" cy="9153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563492" cy="915315"/>
            </a:xfrm>
            <a:custGeom>
              <a:avLst/>
              <a:gdLst/>
              <a:ahLst/>
              <a:cxnLst/>
              <a:rect r="r" b="b" t="t" l="l"/>
              <a:pathLst>
                <a:path h="915315" w="3563492">
                  <a:moveTo>
                    <a:pt x="3325367" y="0"/>
                  </a:moveTo>
                  <a:lnTo>
                    <a:pt x="3563492" y="238125"/>
                  </a:lnTo>
                  <a:lnTo>
                    <a:pt x="3563492" y="677190"/>
                  </a:lnTo>
                  <a:lnTo>
                    <a:pt x="3325367" y="915315"/>
                  </a:lnTo>
                  <a:lnTo>
                    <a:pt x="238125" y="915315"/>
                  </a:lnTo>
                  <a:lnTo>
                    <a:pt x="0" y="6771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325367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436492" cy="83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438665" y="-382030"/>
            <a:ext cx="14030295" cy="1158446"/>
            <a:chOff x="0" y="0"/>
            <a:chExt cx="3695222" cy="3051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695222" cy="305105"/>
            </a:xfrm>
            <a:custGeom>
              <a:avLst/>
              <a:gdLst/>
              <a:ahLst/>
              <a:cxnLst/>
              <a:rect r="r" b="b" t="t" l="l"/>
              <a:pathLst>
                <a:path h="305105" w="3695222">
                  <a:moveTo>
                    <a:pt x="0" y="0"/>
                  </a:moveTo>
                  <a:lnTo>
                    <a:pt x="3695222" y="0"/>
                  </a:lnTo>
                  <a:lnTo>
                    <a:pt x="3695222" y="305105"/>
                  </a:lnTo>
                  <a:lnTo>
                    <a:pt x="0" y="305105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3695222" cy="3527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86946" y="9843622"/>
            <a:ext cx="13414804" cy="1007076"/>
            <a:chOff x="0" y="0"/>
            <a:chExt cx="3533117" cy="2652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533117" cy="265238"/>
            </a:xfrm>
            <a:custGeom>
              <a:avLst/>
              <a:gdLst/>
              <a:ahLst/>
              <a:cxnLst/>
              <a:rect r="r" b="b" t="t" l="l"/>
              <a:pathLst>
                <a:path h="265238" w="3533117">
                  <a:moveTo>
                    <a:pt x="0" y="0"/>
                  </a:moveTo>
                  <a:lnTo>
                    <a:pt x="3533117" y="0"/>
                  </a:lnTo>
                  <a:lnTo>
                    <a:pt x="3533117" y="265238"/>
                  </a:lnTo>
                  <a:lnTo>
                    <a:pt x="0" y="265238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3533117" cy="3128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534207" y="-1837038"/>
            <a:ext cx="6753793" cy="3475338"/>
            <a:chOff x="0" y="0"/>
            <a:chExt cx="1778777" cy="91531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78777" cy="915315"/>
            </a:xfrm>
            <a:custGeom>
              <a:avLst/>
              <a:gdLst/>
              <a:ahLst/>
              <a:cxnLst/>
              <a:rect r="r" b="b" t="t" l="l"/>
              <a:pathLst>
                <a:path h="915315" w="1778777">
                  <a:moveTo>
                    <a:pt x="1540652" y="0"/>
                  </a:moveTo>
                  <a:lnTo>
                    <a:pt x="1778777" y="238125"/>
                  </a:lnTo>
                  <a:lnTo>
                    <a:pt x="1778777" y="677190"/>
                  </a:lnTo>
                  <a:lnTo>
                    <a:pt x="1540652" y="915315"/>
                  </a:lnTo>
                  <a:lnTo>
                    <a:pt x="238125" y="915315"/>
                  </a:lnTo>
                  <a:lnTo>
                    <a:pt x="0" y="6771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40652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63500" y="15875"/>
              <a:ext cx="1651777" cy="8359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532583" y="8949830"/>
            <a:ext cx="6803939" cy="2851811"/>
            <a:chOff x="0" y="0"/>
            <a:chExt cx="1791984" cy="75109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91984" cy="751094"/>
            </a:xfrm>
            <a:custGeom>
              <a:avLst/>
              <a:gdLst/>
              <a:ahLst/>
              <a:cxnLst/>
              <a:rect r="r" b="b" t="t" l="l"/>
              <a:pathLst>
                <a:path h="751094" w="1791984">
                  <a:moveTo>
                    <a:pt x="1553859" y="0"/>
                  </a:moveTo>
                  <a:lnTo>
                    <a:pt x="1791984" y="238125"/>
                  </a:lnTo>
                  <a:lnTo>
                    <a:pt x="1791984" y="512969"/>
                  </a:lnTo>
                  <a:lnTo>
                    <a:pt x="1553859" y="751094"/>
                  </a:lnTo>
                  <a:lnTo>
                    <a:pt x="238125" y="751094"/>
                  </a:lnTo>
                  <a:lnTo>
                    <a:pt x="0" y="512969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1553859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63500" y="15875"/>
              <a:ext cx="1664984" cy="671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383125" y="5466769"/>
            <a:ext cx="3115447" cy="4395903"/>
            <a:chOff x="0" y="0"/>
            <a:chExt cx="820529" cy="115776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0529" cy="1157769"/>
            </a:xfrm>
            <a:custGeom>
              <a:avLst/>
              <a:gdLst/>
              <a:ahLst/>
              <a:cxnLst/>
              <a:rect r="r" b="b" t="t" l="l"/>
              <a:pathLst>
                <a:path h="1157769" w="820529">
                  <a:moveTo>
                    <a:pt x="582404" y="0"/>
                  </a:moveTo>
                  <a:lnTo>
                    <a:pt x="820529" y="238125"/>
                  </a:lnTo>
                  <a:lnTo>
                    <a:pt x="820529" y="919644"/>
                  </a:lnTo>
                  <a:lnTo>
                    <a:pt x="582404" y="1157769"/>
                  </a:lnTo>
                  <a:lnTo>
                    <a:pt x="238125" y="1157769"/>
                  </a:lnTo>
                  <a:lnTo>
                    <a:pt x="0" y="919644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82404" y="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63500" y="15875"/>
              <a:ext cx="693529" cy="10783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50497" y="1233736"/>
            <a:ext cx="11437208" cy="972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12"/>
              </a:lnSpc>
            </a:pPr>
            <a:r>
              <a:rPr lang="en-US" sz="7059" spc="352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RESOURCES &amp; REFERENCES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88070" y="3266527"/>
            <a:ext cx="17259300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 spc="4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Walter, J. R. (2022). The future of remote monitoring for pregnancy. National Center for Biotechnology Information. Retrieved from </a:t>
            </a:r>
            <a:r>
              <a:rPr lang="en-US" sz="2199" spc="43" u="sng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2" tooltip="https://pmc.ncbi.nlm.nih.gov/articles/PMC10727511/?utm_source=chatgpt.com"/>
              </a:rPr>
              <a:t>https://pmc.ncbi.nlm.nih.gov/articles/PMC10727511/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 spc="4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Stricker, K., &amp; Gomez, L. (2024). Continuous remote home monitoring for pregnant women and unborn children. Computer Methods and Programs in Biomedicine, 244. Retrieved from </a:t>
            </a:r>
            <a:r>
              <a:rPr lang="en-US" sz="2199" spc="43" u="sng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3" tooltip="https://www.sciencedirect.com/science/article/pii/S0301211524006924?utm_source=chatgpt.com"/>
              </a:rPr>
              <a:t>https://www.sciencedirect.com/science/article/pii/S0301211524006924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4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19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152799" y="9367473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88070" y="2716824"/>
            <a:ext cx="17259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53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Re</a:t>
            </a:r>
            <a:r>
              <a:rPr lang="en-US" b="true" sz="2699" spc="53" u="non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sea</a:t>
            </a:r>
            <a:r>
              <a:rPr lang="en-US" sz="2699" spc="53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rch A</a:t>
            </a:r>
            <a:r>
              <a:rPr lang="en-US" b="true" sz="2699" spc="53" u="non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rticles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50775" y="5511680"/>
            <a:ext cx="172593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 spc="4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Bloomlife. (2025). Remote monitoring solutions for prenatal care. Retrieved from </a:t>
            </a:r>
            <a:r>
              <a:rPr lang="en-US" sz="2199" spc="43" u="sng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5" tooltip="https://www.bloom-life.com/?utm_source=chatgpt.com"/>
              </a:rPr>
              <a:t>https://www.bloom-life.com/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 spc="4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Future Market Insights. (2025). Wearable pregnancy devices market outlook. Retrieved from </a:t>
            </a:r>
            <a:r>
              <a:rPr lang="en-US" sz="2199" spc="43" u="sng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6" tooltip="https://www.futuremarketinsights.com/reports/wearable-pregnancy-devices-market?utm_source=chatgpt.com"/>
              </a:rPr>
              <a:t>https://www.futuremarketinsights.com/reports/wearable-pregnancy-devices-market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0775" y="4961977"/>
            <a:ext cx="17259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53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Indu</a:t>
            </a:r>
            <a:r>
              <a:rPr lang="en-US" b="true" sz="2699" spc="53" u="non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st</a:t>
            </a:r>
            <a:r>
              <a:rPr lang="en-US" sz="2699" spc="53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ry &amp; Ma</a:t>
            </a:r>
            <a:r>
              <a:rPr lang="en-US" b="true" sz="2699" spc="53" u="non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rket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50775" y="7429985"/>
            <a:ext cx="1725930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 spc="4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Time. (2024). How remote pregnancy monitoring is transforming care. Retrieved from </a:t>
            </a:r>
            <a:r>
              <a:rPr lang="en-US" sz="2199" spc="43" u="sng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7" tooltip="https://time.com/7094692/nuvo-invu/?utm_source=chatgpt.com"/>
              </a:rPr>
              <a:t>https://time.com/7094692/nuvo-invu/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 spc="43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ET Edge Insights. (2025). How telemedicine and wearable health trackers are transforming prenatal care. Retrieved from </a:t>
            </a:r>
            <a:r>
              <a:rPr lang="en-US" sz="2199" spc="43" u="sng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8" tooltip="https://etedge-insights.com/industry/healthcare/how-telemedicine-wearable-health-trackers-and-pregnancy-apps-are-transforming-prenatal-care/?utm_source=chatgpt.com"/>
              </a:rPr>
              <a:t>https://etedge-insights.com/industry/healthcare/how-telemedicine-wearable-health-trackers-and-pregnancy-apps-are-transforming-prenatal-care/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50775" y="6880282"/>
            <a:ext cx="17259300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</a:pPr>
            <a:r>
              <a:rPr lang="en-US" sz="2699" spc="53" b="true">
                <a:solidFill>
                  <a:srgbClr val="000000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Popular Media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394624" y="-1099096"/>
            <a:ext cx="13892084" cy="4255593"/>
            <a:chOff x="0" y="0"/>
            <a:chExt cx="3658820" cy="11208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8820" cy="1120815"/>
            </a:xfrm>
            <a:custGeom>
              <a:avLst/>
              <a:gdLst/>
              <a:ahLst/>
              <a:cxnLst/>
              <a:rect r="r" b="b" t="t" l="l"/>
              <a:pathLst>
                <a:path h="1120815" w="3658820">
                  <a:moveTo>
                    <a:pt x="3420695" y="0"/>
                  </a:moveTo>
                  <a:lnTo>
                    <a:pt x="3658820" y="238125"/>
                  </a:lnTo>
                  <a:lnTo>
                    <a:pt x="3658820" y="882690"/>
                  </a:lnTo>
                  <a:lnTo>
                    <a:pt x="3420695" y="1120815"/>
                  </a:lnTo>
                  <a:lnTo>
                    <a:pt x="238125" y="1120815"/>
                  </a:lnTo>
                  <a:lnTo>
                    <a:pt x="0" y="882690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3420695" y="0"/>
                  </a:lnTo>
                  <a:close/>
                </a:path>
              </a:pathLst>
            </a:custGeom>
            <a:solidFill>
              <a:srgbClr val="1D419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63500" y="15875"/>
              <a:ext cx="3531820" cy="10414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174539" y="-1447800"/>
            <a:ext cx="18637078" cy="3086100"/>
            <a:chOff x="0" y="0"/>
            <a:chExt cx="4908531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08531" cy="812800"/>
            </a:xfrm>
            <a:custGeom>
              <a:avLst/>
              <a:gdLst/>
              <a:ahLst/>
              <a:cxnLst/>
              <a:rect r="r" b="b" t="t" l="l"/>
              <a:pathLst>
                <a:path h="812800" w="4908531">
                  <a:moveTo>
                    <a:pt x="0" y="0"/>
                  </a:moveTo>
                  <a:lnTo>
                    <a:pt x="4908531" y="0"/>
                  </a:lnTo>
                  <a:lnTo>
                    <a:pt x="4908531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3157BB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4908531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23273" y="3505874"/>
            <a:ext cx="7834786" cy="5408697"/>
            <a:chOff x="0" y="0"/>
            <a:chExt cx="9198313" cy="63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98313" cy="6350000"/>
            </a:xfrm>
            <a:custGeom>
              <a:avLst/>
              <a:gdLst/>
              <a:ahLst/>
              <a:cxnLst/>
              <a:rect r="r" b="b" t="t" l="l"/>
              <a:pathLst>
                <a:path h="6350000" w="9198313">
                  <a:moveTo>
                    <a:pt x="1324610" y="0"/>
                  </a:moveTo>
                  <a:lnTo>
                    <a:pt x="0" y="0"/>
                  </a:lnTo>
                  <a:lnTo>
                    <a:pt x="0" y="5025390"/>
                  </a:lnTo>
                  <a:lnTo>
                    <a:pt x="1324610" y="6350000"/>
                  </a:lnTo>
                  <a:lnTo>
                    <a:pt x="9198313" y="6350000"/>
                  </a:lnTo>
                  <a:lnTo>
                    <a:pt x="9198313" y="0"/>
                  </a:lnTo>
                  <a:lnTo>
                    <a:pt x="1324610" y="0"/>
                  </a:lnTo>
                  <a:close/>
                </a:path>
              </a:pathLst>
            </a:custGeom>
            <a:solidFill>
              <a:srgbClr val="082266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677163" y="1930095"/>
            <a:ext cx="15327005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8000" spc="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QUESTIONS?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8070" y="8866946"/>
            <a:ext cx="1982403" cy="1333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Sl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oan Atkins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Kate </a:t>
            </a: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  <a:hlinkClick r:id="rId2" tooltip="https://docs.google.com/document/d/1QaH0Pq0nHQakuwRFT1JEawy7oefqskVo8cUi3mBBdi8/edit?tab=t.0#heading=h.pjssefyb6hk1"/>
              </a:rPr>
              <a:t>Brykalova</a:t>
            </a:r>
          </a:p>
          <a:p>
            <a:pPr algn="l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Ella Hartsell</a:t>
            </a:r>
          </a:p>
          <a:p>
            <a:pPr algn="ctr">
              <a:lnSpc>
                <a:spcPts val="2630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72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20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349464" y="9369475"/>
            <a:ext cx="1982403" cy="333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0"/>
              </a:lnSpc>
              <a:spcBef>
                <a:spcPct val="0"/>
              </a:spcBef>
            </a:pPr>
            <a:r>
              <a:rPr lang="en-US" sz="1878">
                <a:solidFill>
                  <a:srgbClr val="000000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Tiny Tempo</a:t>
            </a:r>
          </a:p>
        </p:txBody>
      </p: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7621849" y="4415837"/>
            <a:ext cx="3437633" cy="3437619"/>
            <a:chOff x="0" y="0"/>
            <a:chExt cx="6350000" cy="63499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350000" cy="6349974"/>
            </a:xfrm>
            <a:custGeom>
              <a:avLst/>
              <a:gdLst/>
              <a:ahLst/>
              <a:cxnLst/>
              <a:rect r="r" b="b" t="t" l="l"/>
              <a:pathLst>
                <a:path h="6349974" w="6350000">
                  <a:moveTo>
                    <a:pt x="6350000" y="3175025"/>
                  </a:moveTo>
                  <a:cubicBezTo>
                    <a:pt x="6350000" y="4928451"/>
                    <a:pt x="4928476" y="6349974"/>
                    <a:pt x="3175000" y="6349974"/>
                  </a:cubicBezTo>
                  <a:cubicBezTo>
                    <a:pt x="1421498" y="6349974"/>
                    <a:pt x="0" y="4928451"/>
                    <a:pt x="0" y="3175025"/>
                  </a:cubicBezTo>
                  <a:cubicBezTo>
                    <a:pt x="0" y="1421511"/>
                    <a:pt x="1421498" y="0"/>
                    <a:pt x="3175000" y="0"/>
                  </a:cubicBezTo>
                  <a:cubicBezTo>
                    <a:pt x="4928501" y="0"/>
                    <a:pt x="6350000" y="1421511"/>
                    <a:pt x="6350000" y="3175025"/>
                  </a:cubicBezTo>
                  <a:close/>
                </a:path>
              </a:pathLst>
            </a:custGeom>
            <a:blipFill>
              <a:blip r:embed="rId3"/>
              <a:stretch>
                <a:fillRect l="-60508" t="-61056" r="-61329" b="-60782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DAHCKEXvDX0</dc:identifier>
  <dcterms:modified xsi:type="dcterms:W3CDTF">2011-08-01T06:04:30Z</dcterms:modified>
  <cp:revision>1</cp:revision>
  <dc:title>CSC431 Team 7 PPT</dc:title>
</cp:coreProperties>
</file>